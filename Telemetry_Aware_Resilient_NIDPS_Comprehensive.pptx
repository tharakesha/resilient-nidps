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2926080"/>
          </a:xfrm>
          <a:prstGeom prst="rect">
            <a:avLst/>
          </a:prstGeom>
          <a:noFill/>
        </p:spPr>
        <p:txBody>
          <a:bodyPr wrap="square">
            <a:spAutoFit/>
          </a:bodyPr>
          <a:lstStyle/>
          <a:p>
            <a:pPr>
              <a:spcAft>
                <a:spcPts val="1400"/>
              </a:spcAft>
              <a:defRPr sz="1200" b="1">
                <a:solidFill>
                  <a:srgbClr val="0EA5E9"/>
                </a:solidFill>
              </a:defRPr>
            </a:pPr>
            <a:r>
              <a:t>RESEARCH &amp; ARCHITECTURE REVIEW</a:t>
            </a:r>
          </a:p>
          <a:p>
            <a:pPr>
              <a:spcAft>
                <a:spcPts val="1400"/>
              </a:spcAft>
              <a:defRPr sz="3200" b="1">
                <a:solidFill>
                  <a:srgbClr val="FFFFFF"/>
                </a:solidFill>
              </a:defRPr>
            </a:pPr>
            <a:r>
              <a:t>Resilient AI-Based Network Intrusion Detection</a:t>
            </a:r>
            <a:br/>
            <a:r>
              <a:t>and Prevention System</a:t>
            </a:r>
          </a:p>
          <a:p>
            <a:pPr>
              <a:defRPr sz="1600">
                <a:solidFill>
                  <a:srgbClr val="94A3B8"/>
                </a:solidFill>
              </a:defRPr>
            </a:pPr>
            <a:r>
              <a:t>Maintaining Detection Continuity via Telemetry-Aware Multi-Mode Arbitration &amp; Intelligent Alerting</a:t>
            </a:r>
          </a:p>
        </p:txBody>
      </p:sp>
      <p:sp>
        <p:nvSpPr>
          <p:cNvPr id="4" name="Rounded Rectangle 3"/>
          <p:cNvSpPr/>
          <p:nvPr/>
        </p:nvSpPr>
        <p:spPr>
          <a:xfrm>
            <a:off x="914400" y="5120640"/>
            <a:ext cx="10362895" cy="914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5257800"/>
            <a:ext cx="9966960" cy="640080"/>
          </a:xfrm>
          <a:prstGeom prst="rect">
            <a:avLst/>
          </a:prstGeom>
          <a:noFill/>
        </p:spPr>
        <p:txBody>
          <a:bodyPr wrap="none">
            <a:spAutoFit/>
          </a:bodyPr>
          <a:lstStyle/>
          <a:p>
            <a:pPr>
              <a:defRPr sz="1100" b="1">
                <a:solidFill>
                  <a:srgbClr val="E2E8F0"/>
                </a:solidFill>
              </a:defRPr>
            </a:pPr>
            <a:r>
              <a:t>Academic Research &amp; Capstone Defense | Benchmark Target: CIC-IDS2017 Dataset</a:t>
            </a:r>
          </a:p>
          <a:p>
            <a:pPr>
              <a:defRPr sz="1000">
                <a:solidFill>
                  <a:srgbClr val="94A3B8"/>
                </a:solidFill>
              </a:defRPr>
            </a:pPr>
            <a:r>
              <a:t>Department of Computer Science and Engineering • Cyber Defense &amp; Resilient Machine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FOUNDATIONAL CONCEPTS</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Building Blocks: Packet vs. Flow vs. Telemetry</a:t>
            </a:r>
          </a:p>
        </p:txBody>
      </p:sp>
      <p:sp>
        <p:nvSpPr>
          <p:cNvPr id="4" name="Rounded Rectangle 3"/>
          <p:cNvSpPr/>
          <p:nvPr/>
        </p:nvSpPr>
        <p:spPr>
          <a:xfrm>
            <a:off x="731520" y="13716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754880" cy="1965960"/>
          </a:xfrm>
          <a:prstGeom prst="rect">
            <a:avLst/>
          </a:prstGeom>
          <a:noFill/>
        </p:spPr>
        <p:txBody>
          <a:bodyPr wrap="square">
            <a:spAutoFit/>
          </a:bodyPr>
          <a:lstStyle/>
          <a:p>
            <a:pPr>
              <a:defRPr sz="1300" b="1">
                <a:solidFill>
                  <a:srgbClr val="2563EB"/>
                </a:solidFill>
              </a:defRPr>
            </a:pPr>
            <a:r>
              <a:t>1. PACKET (The Envelope)</a:t>
            </a:r>
          </a:p>
          <a:p>
            <a:pPr>
              <a:spcAft>
                <a:spcPts val="600"/>
              </a:spcAft>
              <a:defRPr sz="1000" i="1">
                <a:solidFill>
                  <a:srgbClr val="64748B"/>
                </a:solidFill>
              </a:defRPr>
            </a:pPr>
            <a:r>
              <a:t>The atomic unit of data on a network.</a:t>
            </a:r>
          </a:p>
          <a:p>
            <a:pPr>
              <a:defRPr sz="950">
                <a:solidFill>
                  <a:srgbClr val="0F172A"/>
                </a:solidFill>
              </a:defRPr>
            </a:pPr>
            <a:r>
              <a:t>• Analogy: A letter in an envelope with recipient (Dest IP), return address (Src IP), and contents (Payload).</a:t>
            </a:r>
          </a:p>
          <a:p>
            <a:pPr>
              <a:defRPr sz="950">
                <a:solidFill>
                  <a:srgbClr val="0F172A"/>
                </a:solidFill>
              </a:defRPr>
            </a:pPr>
            <a:r>
              <a:t>• In Reality: 64 to 1,500 bytes traveling through fiber/copper.</a:t>
            </a:r>
          </a:p>
          <a:p>
            <a:pPr>
              <a:defRPr sz="950">
                <a:solidFill>
                  <a:srgbClr val="0F172A"/>
                </a:solidFill>
              </a:defRPr>
            </a:pPr>
            <a:r>
              <a:t>• Challenge: Inspecting every packet individually at 10Gbps line rate melts server CPUs.</a:t>
            </a:r>
          </a:p>
        </p:txBody>
      </p:sp>
      <p:sp>
        <p:nvSpPr>
          <p:cNvPr id="6" name="Rounded Rectangle 5"/>
          <p:cNvSpPr/>
          <p:nvPr/>
        </p:nvSpPr>
        <p:spPr>
          <a:xfrm>
            <a:off x="6172200" y="13716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754880" cy="1965960"/>
          </a:xfrm>
          <a:prstGeom prst="rect">
            <a:avLst/>
          </a:prstGeom>
          <a:noFill/>
        </p:spPr>
        <p:txBody>
          <a:bodyPr wrap="square">
            <a:spAutoFit/>
          </a:bodyPr>
          <a:lstStyle/>
          <a:p>
            <a:pPr>
              <a:defRPr sz="1300" b="1">
                <a:solidFill>
                  <a:srgbClr val="2563EB"/>
                </a:solidFill>
              </a:defRPr>
            </a:pPr>
            <a:r>
              <a:t>2. NETWORK FLOW (The Conversation)</a:t>
            </a:r>
          </a:p>
          <a:p>
            <a:pPr>
              <a:spcAft>
                <a:spcPts val="600"/>
              </a:spcAft>
              <a:defRPr sz="1000" i="1">
                <a:solidFill>
                  <a:srgbClr val="64748B"/>
                </a:solidFill>
              </a:defRPr>
            </a:pPr>
            <a:r>
              <a:t>Grouping packets into complete sessions.</a:t>
            </a:r>
          </a:p>
          <a:p>
            <a:pPr>
              <a:defRPr sz="950">
                <a:solidFill>
                  <a:srgbClr val="0F172A"/>
                </a:solidFill>
              </a:defRPr>
            </a:pPr>
            <a:r>
              <a:t>• Analogy: A phone call between Alice and Bob.</a:t>
            </a:r>
          </a:p>
          <a:p>
            <a:pPr>
              <a:defRPr sz="950">
                <a:solidFill>
                  <a:srgbClr val="0F172A"/>
                </a:solidFill>
              </a:defRPr>
            </a:pPr>
            <a:r>
              <a:t>• Identified by 5-Tuple: (Src IP, Dst IP, Src Port, Dst Port, Protocol).</a:t>
            </a:r>
          </a:p>
          <a:p>
            <a:pPr>
              <a:defRPr sz="950">
                <a:solidFill>
                  <a:srgbClr val="0F172A"/>
                </a:solidFill>
              </a:defRPr>
            </a:pPr>
            <a:r>
              <a:t>• Benefit: Instead of analyzing 50,000 separate packets, routers summarize them into a single ongoing Flow Record.</a:t>
            </a:r>
          </a:p>
        </p:txBody>
      </p:sp>
      <p:sp>
        <p:nvSpPr>
          <p:cNvPr id="8" name="Rounded Rectangle 7"/>
          <p:cNvSpPr/>
          <p:nvPr/>
        </p:nvSpPr>
        <p:spPr>
          <a:xfrm>
            <a:off x="731520" y="38862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069080"/>
            <a:ext cx="4754880" cy="1965960"/>
          </a:xfrm>
          <a:prstGeom prst="rect">
            <a:avLst/>
          </a:prstGeom>
          <a:noFill/>
        </p:spPr>
        <p:txBody>
          <a:bodyPr wrap="square">
            <a:spAutoFit/>
          </a:bodyPr>
          <a:lstStyle/>
          <a:p>
            <a:pPr>
              <a:defRPr sz="1300" b="1">
                <a:solidFill>
                  <a:srgbClr val="2563EB"/>
                </a:solidFill>
              </a:defRPr>
            </a:pPr>
            <a:r>
              <a:t>3. TELEMETRY (Vital Signs)</a:t>
            </a:r>
          </a:p>
          <a:p>
            <a:pPr>
              <a:spcAft>
                <a:spcPts val="600"/>
              </a:spcAft>
              <a:defRPr sz="1000" i="1">
                <a:solidFill>
                  <a:srgbClr val="64748B"/>
                </a:solidFill>
              </a:defRPr>
            </a:pPr>
            <a:r>
              <a:t>Statistical measurements describing the flow.</a:t>
            </a:r>
          </a:p>
          <a:p>
            <a:pPr>
              <a:defRPr sz="950">
                <a:solidFill>
                  <a:srgbClr val="0F172A"/>
                </a:solidFill>
              </a:defRPr>
            </a:pPr>
            <a:r>
              <a:t>• Analogy: A fitness smartwatch measuring heart rate &amp; pace.</a:t>
            </a:r>
          </a:p>
          <a:p>
            <a:pPr>
              <a:defRPr sz="950">
                <a:solidFill>
                  <a:srgbClr val="0F172A"/>
                </a:solidFill>
              </a:defRPr>
            </a:pPr>
            <a:r>
              <a:t>• In CIC-IDS2017: 78 mathematical features:</a:t>
            </a:r>
          </a:p>
          <a:p>
            <a:pPr>
              <a:defRPr sz="950">
                <a:solidFill>
                  <a:srgbClr val="0F172A"/>
                </a:solidFill>
              </a:defRPr>
            </a:pPr>
            <a:r>
              <a:t>  - Flow Duration, Total Packets (Fwd/Bwd)</a:t>
            </a:r>
          </a:p>
          <a:p>
            <a:pPr>
              <a:defRPr sz="950">
                <a:solidFill>
                  <a:srgbClr val="0F172A"/>
                </a:solidFill>
              </a:defRPr>
            </a:pPr>
            <a:r>
              <a:t>  - Inter-Arrival Time (IAT Mean/Std)</a:t>
            </a:r>
          </a:p>
          <a:p>
            <a:pPr>
              <a:defRPr sz="950">
                <a:solidFill>
                  <a:srgbClr val="0F172A"/>
                </a:solidFill>
              </a:defRPr>
            </a:pPr>
            <a:r>
              <a:t>  - Packet Length Variance, TCP Flags, Entropy.</a:t>
            </a:r>
          </a:p>
        </p:txBody>
      </p:sp>
      <p:sp>
        <p:nvSpPr>
          <p:cNvPr id="10" name="Rounded Rectangle 9"/>
          <p:cNvSpPr/>
          <p:nvPr/>
        </p:nvSpPr>
        <p:spPr>
          <a:xfrm>
            <a:off x="6172200" y="3886200"/>
            <a:ext cx="5212080"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69080"/>
            <a:ext cx="4754880" cy="1965960"/>
          </a:xfrm>
          <a:prstGeom prst="rect">
            <a:avLst/>
          </a:prstGeom>
          <a:noFill/>
        </p:spPr>
        <p:txBody>
          <a:bodyPr wrap="square">
            <a:spAutoFit/>
          </a:bodyPr>
          <a:lstStyle/>
          <a:p>
            <a:pPr>
              <a:defRPr sz="1300" b="1">
                <a:solidFill>
                  <a:srgbClr val="2563EB"/>
                </a:solidFill>
              </a:defRPr>
            </a:pPr>
            <a:r>
              <a:t>4. NIDS vs. NIDPS (The Security)</a:t>
            </a:r>
          </a:p>
          <a:p>
            <a:pPr>
              <a:spcAft>
                <a:spcPts val="600"/>
              </a:spcAft>
              <a:defRPr sz="1000" i="1">
                <a:solidFill>
                  <a:srgbClr val="64748B"/>
                </a:solidFill>
              </a:defRPr>
            </a:pPr>
            <a:r>
              <a:t>Detection vs. Active Prevention.</a:t>
            </a:r>
          </a:p>
          <a:p>
            <a:pPr>
              <a:defRPr sz="950">
                <a:solidFill>
                  <a:srgbClr val="0F172A"/>
                </a:solidFill>
              </a:defRPr>
            </a:pPr>
            <a:r>
              <a:t>• NIDS: Security guard that watches traffic and raises an alert.</a:t>
            </a:r>
          </a:p>
          <a:p>
            <a:pPr>
              <a:defRPr sz="950">
                <a:solidFill>
                  <a:srgbClr val="0F172A"/>
                </a:solidFill>
              </a:defRPr>
            </a:pPr>
            <a:r>
              <a:t>• NIDPS: Security guard that ALSO acts:</a:t>
            </a:r>
          </a:p>
          <a:p>
            <a:pPr>
              <a:defRPr sz="950">
                <a:solidFill>
                  <a:srgbClr val="0F172A"/>
                </a:solidFill>
              </a:defRPr>
            </a:pPr>
            <a:r>
              <a:t>  - Rate-limits suspicious connections</a:t>
            </a:r>
          </a:p>
          <a:p>
            <a:pPr>
              <a:defRPr sz="950">
                <a:solidFill>
                  <a:srgbClr val="0F172A"/>
                </a:solidFill>
              </a:defRPr>
            </a:pPr>
            <a:r>
              <a:t>  - Injects firewall drop rules (IP quarantine)</a:t>
            </a:r>
          </a:p>
          <a:p>
            <a:pPr>
              <a:defRPr sz="950">
                <a:solidFill>
                  <a:srgbClr val="0F172A"/>
                </a:solidFill>
              </a:defRPr>
            </a:pPr>
            <a:r>
              <a:t>  - Prevents damage before servers crash.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THE RESEARCH PROBLEM</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The Fallacy: Clean Offline Datasets vs. Real Telemetry</a:t>
            </a:r>
          </a:p>
        </p:txBody>
      </p:sp>
      <p:sp>
        <p:nvSpPr>
          <p:cNvPr id="4" name="Rounded Rectangle 3"/>
          <p:cNvSpPr/>
          <p:nvPr/>
        </p:nvSpPr>
        <p:spPr>
          <a:xfrm>
            <a:off x="731520" y="1371600"/>
            <a:ext cx="5212080" cy="411480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754880" cy="3749039"/>
          </a:xfrm>
          <a:prstGeom prst="rect">
            <a:avLst/>
          </a:prstGeom>
          <a:noFill/>
        </p:spPr>
        <p:txBody>
          <a:bodyPr wrap="square">
            <a:spAutoFit/>
          </a:bodyPr>
          <a:lstStyle/>
          <a:p>
            <a:pPr>
              <a:defRPr sz="1200" b="1">
                <a:solidFill>
                  <a:srgbClr val="2563EB"/>
                </a:solidFill>
              </a:defRPr>
            </a:pPr>
            <a:r>
              <a:t>OFFLINE BENCHMARK DATASET (e.g., CIC-IDS2017 CSV)</a:t>
            </a:r>
          </a:p>
          <a:p>
            <a:pPr>
              <a:spcAft>
                <a:spcPts val="800"/>
              </a:spcAft>
              <a:defRPr sz="1000" b="1">
                <a:solidFill>
                  <a:srgbClr val="64748B"/>
                </a:solidFill>
              </a:defRPr>
            </a:pPr>
            <a:r>
              <a:t>The 'Studio Photo' Assumption:</a:t>
            </a:r>
          </a:p>
          <a:p>
            <a:pPr>
              <a:spcAft>
                <a:spcPts val="500"/>
              </a:spcAft>
              <a:defRPr sz="1000">
                <a:solidFill>
                  <a:srgbClr val="0F172A"/>
                </a:solidFill>
              </a:defRPr>
            </a:pPr>
            <a:r>
              <a:t>✔ 100% Complete: All 78 flow features calculated to exact float precision.</a:t>
            </a:r>
          </a:p>
          <a:p>
            <a:pPr>
              <a:spcAft>
                <a:spcPts val="500"/>
              </a:spcAft>
              <a:defRPr sz="1000">
                <a:solidFill>
                  <a:srgbClr val="0F172A"/>
                </a:solidFill>
              </a:defRPr>
            </a:pPr>
            <a:r>
              <a:t>✔ Perfectly Bidirectional: Both request (forward) and response (backward) observed.</a:t>
            </a:r>
          </a:p>
          <a:p>
            <a:pPr>
              <a:spcAft>
                <a:spcPts val="500"/>
              </a:spcAft>
              <a:defRPr sz="1000">
                <a:solidFill>
                  <a:srgbClr val="0F172A"/>
                </a:solidFill>
              </a:defRPr>
            </a:pPr>
            <a:r>
              <a:t>✔ Zero Packet Loss: Sensor was placed in an isolated, quiet laboratory.</a:t>
            </a:r>
          </a:p>
          <a:p>
            <a:pPr>
              <a:spcAft>
                <a:spcPts val="500"/>
              </a:spcAft>
              <a:defRPr sz="1000">
                <a:solidFill>
                  <a:srgbClr val="0F172A"/>
                </a:solidFill>
              </a:defRPr>
            </a:pPr>
            <a:r>
              <a:t>✔ Unencrypted / Mirrored: DPI and payload statistics fully visible.</a:t>
            </a:r>
          </a:p>
          <a:p>
            <a:pPr>
              <a:spcAft>
                <a:spcPts val="500"/>
              </a:spcAft>
              <a:defRPr sz="1000">
                <a:solidFill>
                  <a:srgbClr val="0F172A"/>
                </a:solidFill>
              </a:defRPr>
            </a:pPr>
            <a:r>
              <a:t>✔ The Consequence: Standard ML models achieve 99% accuracy in tests, creating a false sense of security.</a:t>
            </a:r>
          </a:p>
        </p:txBody>
      </p:sp>
      <p:sp>
        <p:nvSpPr>
          <p:cNvPr id="6" name="Rounded Rectangle 5"/>
          <p:cNvSpPr/>
          <p:nvPr/>
        </p:nvSpPr>
        <p:spPr>
          <a:xfrm>
            <a:off x="6217920" y="1371600"/>
            <a:ext cx="5212080" cy="4114800"/>
          </a:xfrm>
          <a:prstGeom prst="roundRect">
            <a:avLst/>
          </a:prstGeom>
          <a:solidFill>
            <a:srgbClr val="FEF2F2"/>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754880" cy="3749039"/>
          </a:xfrm>
          <a:prstGeom prst="rect">
            <a:avLst/>
          </a:prstGeom>
          <a:noFill/>
        </p:spPr>
        <p:txBody>
          <a:bodyPr wrap="square">
            <a:spAutoFit/>
          </a:bodyPr>
          <a:lstStyle/>
          <a:p>
            <a:pPr>
              <a:defRPr sz="1200" b="1">
                <a:solidFill>
                  <a:srgbClr val="DC2626"/>
                </a:solidFill>
              </a:defRPr>
            </a:pPr>
            <a:r>
              <a:t>REAL-WORLD LIVE TELEMETRY (Operational Networks)</a:t>
            </a:r>
          </a:p>
          <a:p>
            <a:pPr>
              <a:spcAft>
                <a:spcPts val="800"/>
              </a:spcAft>
              <a:defRPr sz="1000" b="1">
                <a:solidFill>
                  <a:srgbClr val="64748B"/>
                </a:solidFill>
              </a:defRPr>
            </a:pPr>
            <a:r>
              <a:t>The 'CCTV in a Storm' Reality:</a:t>
            </a:r>
          </a:p>
          <a:p>
            <a:pPr>
              <a:spcAft>
                <a:spcPts val="500"/>
              </a:spcAft>
              <a:defRPr sz="1000">
                <a:solidFill>
                  <a:srgbClr val="0F172A"/>
                </a:solidFill>
              </a:defRPr>
            </a:pPr>
            <a:r>
              <a:t>✖ Missing Backward Features: Asymmetric routing causes return packets to take another path.</a:t>
            </a:r>
          </a:p>
          <a:p>
            <a:pPr>
              <a:spcAft>
                <a:spcPts val="500"/>
              </a:spcAft>
              <a:defRPr sz="1000">
                <a:solidFill>
                  <a:srgbClr val="0F172A"/>
                </a:solidFill>
              </a:defRPr>
            </a:pPr>
            <a:r>
              <a:t>✖ Distorted Timings: Line-rate 1-in-1000 sampling completely destroys inter-arrival time (IAT).</a:t>
            </a:r>
          </a:p>
          <a:p>
            <a:pPr>
              <a:spcAft>
                <a:spcPts val="500"/>
              </a:spcAft>
              <a:defRPr sz="1000">
                <a:solidFill>
                  <a:srgbClr val="0F172A"/>
                </a:solidFill>
              </a:defRPr>
            </a:pPr>
            <a:r>
              <a:t>✖ Payload Blindness: Modern TLS 1.3 / QUIC encrypts payload; DPI attributes are absent.</a:t>
            </a:r>
          </a:p>
          <a:p>
            <a:pPr>
              <a:spcAft>
                <a:spcPts val="500"/>
              </a:spcAft>
              <a:defRPr sz="1000">
                <a:solidFill>
                  <a:srgbClr val="0F172A"/>
                </a:solidFill>
              </a:defRPr>
            </a:pPr>
            <a:r>
              <a:t>✖ Sensor Exhaustion: High-speed floods fill switch memory; detailed flow export fails.</a:t>
            </a:r>
          </a:p>
          <a:p>
            <a:pPr>
              <a:spcAft>
                <a:spcPts val="500"/>
              </a:spcAft>
              <a:defRPr sz="1000">
                <a:solidFill>
                  <a:srgbClr val="0F172A"/>
                </a:solidFill>
              </a:defRPr>
            </a:pPr>
            <a:r>
              <a:t>✖ The Performance Cliff: Standard ML accuracy crashes from 99% down to 30%-45% under stress!</a:t>
            </a:r>
          </a:p>
        </p:txBody>
      </p:sp>
      <p:sp>
        <p:nvSpPr>
          <p:cNvPr id="8" name="Rounded Rectangle 7"/>
          <p:cNvSpPr/>
          <p:nvPr/>
        </p:nvSpPr>
        <p:spPr>
          <a:xfrm>
            <a:off x="731520" y="5623560"/>
            <a:ext cx="10698480" cy="777240"/>
          </a:xfrm>
          <a:prstGeom prst="roundRect">
            <a:avLst/>
          </a:prstGeom>
          <a:solidFill>
            <a:srgbClr val="FFEDD5"/>
          </a:solidFill>
          <a:ln w="1905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15000"/>
            <a:ext cx="10332720" cy="594360"/>
          </a:xfrm>
          <a:prstGeom prst="rect">
            <a:avLst/>
          </a:prstGeom>
          <a:noFill/>
        </p:spPr>
        <p:txBody>
          <a:bodyPr wrap="square">
            <a:spAutoFit/>
          </a:bodyPr>
          <a:lstStyle/>
          <a:p>
            <a:pPr>
              <a:defRPr sz="1000" b="1">
                <a:solidFill>
                  <a:srgbClr val="EA580C"/>
                </a:solidFill>
              </a:defRPr>
            </a:pPr>
            <a:r>
              <a:t>CORE RESEARCH GAP: Conventional NIDS assume telemetry is always perfect. When data degrades, detection completely collapses. Our project engineers detection continuity through telemetry-aware multi-mode adaptation.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ROOT CAUSE ANALYSIS</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The 3 Physical Phenomena That Degrade Telemetry</a:t>
            </a:r>
          </a:p>
        </p:txBody>
      </p:sp>
      <p:sp>
        <p:nvSpPr>
          <p:cNvPr id="4" name="Rounded Rectangle 3"/>
          <p:cNvSpPr/>
          <p:nvPr/>
        </p:nvSpPr>
        <p:spPr>
          <a:xfrm>
            <a:off x="731520" y="1371600"/>
            <a:ext cx="34747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108960" cy="4572000"/>
          </a:xfrm>
          <a:prstGeom prst="rect">
            <a:avLst/>
          </a:prstGeom>
          <a:noFill/>
        </p:spPr>
        <p:txBody>
          <a:bodyPr wrap="square">
            <a:spAutoFit/>
          </a:bodyPr>
          <a:lstStyle/>
          <a:p>
            <a:pPr>
              <a:defRPr sz="1300" b="1">
                <a:solidFill>
                  <a:srgbClr val="2563EB"/>
                </a:solidFill>
              </a:defRPr>
            </a:pPr>
            <a:r>
              <a:t>1. ASYMMETRIC ROUTING</a:t>
            </a:r>
          </a:p>
          <a:p>
            <a:pPr>
              <a:spcAft>
                <a:spcPts val="1000"/>
              </a:spcAft>
              <a:defRPr sz="950" i="1">
                <a:solidFill>
                  <a:srgbClr val="64748B"/>
                </a:solidFill>
              </a:defRPr>
            </a:pPr>
            <a:r>
              <a:t>The Cause of Missing Features</a:t>
            </a:r>
          </a:p>
          <a:p>
            <a:pPr>
              <a:spcAft>
                <a:spcPts val="300"/>
              </a:spcAft>
              <a:defRPr sz="950">
                <a:solidFill>
                  <a:srgbClr val="0F172A"/>
                </a:solidFill>
              </a:defRPr>
            </a:pPr>
            <a:r>
              <a:t>• Network Reality: Outbound requests travel via ISP Gateway A, but the server's return response enters via ISP Gateway B.</a:t>
            </a:r>
          </a:p>
          <a:p>
            <a:pPr>
              <a:spcAft>
                <a:spcPts val="300"/>
              </a:spcAft>
              <a:defRPr sz="950">
                <a:solidFill>
                  <a:srgbClr val="0F172A"/>
                </a:solidFill>
              </a:defRPr>
            </a:pPr>
          </a:p>
          <a:p>
            <a:pPr>
              <a:spcAft>
                <a:spcPts val="300"/>
              </a:spcAft>
              <a:defRPr sz="950">
                <a:solidFill>
                  <a:srgbClr val="0F172A"/>
                </a:solidFill>
              </a:defRPr>
            </a:pPr>
            <a:r>
              <a:t>• The Impact: A sensor placed at Gateway A only sees the forward half of the conversation.</a:t>
            </a:r>
          </a:p>
          <a:p>
            <a:pPr>
              <a:spcAft>
                <a:spcPts val="300"/>
              </a:spcAft>
              <a:defRPr sz="950">
                <a:solidFill>
                  <a:srgbClr val="0F172A"/>
                </a:solidFill>
              </a:defRPr>
            </a:pPr>
          </a:p>
          <a:p>
            <a:pPr>
              <a:spcAft>
                <a:spcPts val="300"/>
              </a:spcAft>
              <a:defRPr sz="950">
                <a:solidFill>
                  <a:srgbClr val="0F172A"/>
                </a:solidFill>
              </a:defRPr>
            </a:pPr>
            <a:r>
              <a:t>• Telemetry Corruption: All backward metrics (Bwd Packet Lengths, Bwd IAT, Bwd Flags) become NaN or forced 0.0.</a:t>
            </a:r>
          </a:p>
          <a:p>
            <a:pPr>
              <a:spcAft>
                <a:spcPts val="300"/>
              </a:spcAft>
              <a:defRPr sz="950">
                <a:solidFill>
                  <a:srgbClr val="0F172A"/>
                </a:solidFill>
              </a:defRPr>
            </a:pPr>
          </a:p>
          <a:p>
            <a:pPr>
              <a:spcAft>
                <a:spcPts val="300"/>
              </a:spcAft>
              <a:defRPr sz="950">
                <a:solidFill>
                  <a:srgbClr val="0F172A"/>
                </a:solidFill>
              </a:defRPr>
            </a:pPr>
            <a:r>
              <a:t>• ML Failure: Decision trees branch in the wrong direction, generating rampant false alarms.</a:t>
            </a:r>
          </a:p>
        </p:txBody>
      </p:sp>
      <p:sp>
        <p:nvSpPr>
          <p:cNvPr id="6" name="Rounded Rectangle 5"/>
          <p:cNvSpPr/>
          <p:nvPr/>
        </p:nvSpPr>
        <p:spPr>
          <a:xfrm>
            <a:off x="4343400" y="1371600"/>
            <a:ext cx="34747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54480"/>
            <a:ext cx="3108960" cy="4572000"/>
          </a:xfrm>
          <a:prstGeom prst="rect">
            <a:avLst/>
          </a:prstGeom>
          <a:noFill/>
        </p:spPr>
        <p:txBody>
          <a:bodyPr wrap="square">
            <a:spAutoFit/>
          </a:bodyPr>
          <a:lstStyle/>
          <a:p>
            <a:pPr>
              <a:defRPr sz="1300" b="1">
                <a:solidFill>
                  <a:srgbClr val="D97706"/>
                </a:solidFill>
              </a:defRPr>
            </a:pPr>
            <a:r>
              <a:t>2. LINE-RATE SAMPLING (sFlow)</a:t>
            </a:r>
          </a:p>
          <a:p>
            <a:pPr>
              <a:spcAft>
                <a:spcPts val="1000"/>
              </a:spcAft>
              <a:defRPr sz="950" i="1">
                <a:solidFill>
                  <a:srgbClr val="64748B"/>
                </a:solidFill>
              </a:defRPr>
            </a:pPr>
            <a:r>
              <a:t>The Cause of Timing Distortion &amp; Noise</a:t>
            </a:r>
          </a:p>
          <a:p>
            <a:pPr>
              <a:spcAft>
                <a:spcPts val="300"/>
              </a:spcAft>
              <a:defRPr sz="950">
                <a:solidFill>
                  <a:srgbClr val="0F172A"/>
                </a:solidFill>
              </a:defRPr>
            </a:pPr>
            <a:r>
              <a:t>• Network Reality: On 10Gbps+ enterprise backbones, switches inspect only 1 out of every 1,000 packets to save CPU.</a:t>
            </a:r>
          </a:p>
          <a:p>
            <a:pPr>
              <a:spcAft>
                <a:spcPts val="300"/>
              </a:spcAft>
              <a:defRPr sz="950">
                <a:solidFill>
                  <a:srgbClr val="0F172A"/>
                </a:solidFill>
              </a:defRPr>
            </a:pPr>
          </a:p>
          <a:p>
            <a:pPr>
              <a:spcAft>
                <a:spcPts val="300"/>
              </a:spcAft>
              <a:defRPr sz="950">
                <a:solidFill>
                  <a:srgbClr val="0F172A"/>
                </a:solidFill>
              </a:defRPr>
            </a:pPr>
            <a:r>
              <a:t>• The Impact: Packet counts are coarse estimates, and consecutive packet arrival cannot be measured.</a:t>
            </a:r>
          </a:p>
          <a:p>
            <a:pPr>
              <a:spcAft>
                <a:spcPts val="300"/>
              </a:spcAft>
              <a:defRPr sz="950">
                <a:solidFill>
                  <a:srgbClr val="0F172A"/>
                </a:solidFill>
              </a:defRPr>
            </a:pPr>
          </a:p>
          <a:p>
            <a:pPr>
              <a:spcAft>
                <a:spcPts val="300"/>
              </a:spcAft>
              <a:defRPr sz="950">
                <a:solidFill>
                  <a:srgbClr val="0F172A"/>
                </a:solidFill>
              </a:defRPr>
            </a:pPr>
            <a:r>
              <a:t>• Telemetry Corruption: Flow IAT Mean, Flow IAT Std, and Idle/Active distributions become random garbage.</a:t>
            </a:r>
          </a:p>
          <a:p>
            <a:pPr>
              <a:spcAft>
                <a:spcPts val="300"/>
              </a:spcAft>
              <a:defRPr sz="950">
                <a:solidFill>
                  <a:srgbClr val="0F172A"/>
                </a:solidFill>
              </a:defRPr>
            </a:pPr>
          </a:p>
          <a:p>
            <a:pPr>
              <a:spcAft>
                <a:spcPts val="300"/>
              </a:spcAft>
              <a:defRPr sz="950">
                <a:solidFill>
                  <a:srgbClr val="0F172A"/>
                </a:solidFill>
              </a:defRPr>
            </a:pPr>
            <a:r>
              <a:t>• ML Failure: Classifiers relying on microsecond jitter signatures produce uncalibrated predictions.</a:t>
            </a:r>
          </a:p>
        </p:txBody>
      </p:sp>
      <p:sp>
        <p:nvSpPr>
          <p:cNvPr id="8" name="Rounded Rectangle 7"/>
          <p:cNvSpPr/>
          <p:nvPr/>
        </p:nvSpPr>
        <p:spPr>
          <a:xfrm>
            <a:off x="7955280" y="1371600"/>
            <a:ext cx="34747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554480"/>
            <a:ext cx="3108960" cy="4572000"/>
          </a:xfrm>
          <a:prstGeom prst="rect">
            <a:avLst/>
          </a:prstGeom>
          <a:noFill/>
        </p:spPr>
        <p:txBody>
          <a:bodyPr wrap="square">
            <a:spAutoFit/>
          </a:bodyPr>
          <a:lstStyle/>
          <a:p>
            <a:pPr>
              <a:defRPr sz="1300" b="1">
                <a:solidFill>
                  <a:srgbClr val="DC2626"/>
                </a:solidFill>
              </a:defRPr>
            </a:pPr>
            <a:r>
              <a:t>3. SENSOR OVERLOAD &amp; ENCRYPTION</a:t>
            </a:r>
          </a:p>
          <a:p>
            <a:pPr>
              <a:spcAft>
                <a:spcPts val="1000"/>
              </a:spcAft>
              <a:defRPr sz="950" i="1">
                <a:solidFill>
                  <a:srgbClr val="64748B"/>
                </a:solidFill>
              </a:defRPr>
            </a:pPr>
            <a:r>
              <a:t>The Cause of Stripped Feature Modalities</a:t>
            </a:r>
          </a:p>
          <a:p>
            <a:pPr>
              <a:spcAft>
                <a:spcPts val="300"/>
              </a:spcAft>
              <a:defRPr sz="950">
                <a:solidFill>
                  <a:srgbClr val="0F172A"/>
                </a:solidFill>
              </a:defRPr>
            </a:pPr>
            <a:r>
              <a:t>• Network Reality: High-volume DDoS attacks overwhelm the sensor's CPU and memory, while TLS 1.3 seals payload contents.</a:t>
            </a:r>
          </a:p>
          <a:p>
            <a:pPr>
              <a:spcAft>
                <a:spcPts val="300"/>
              </a:spcAft>
              <a:defRPr sz="950">
                <a:solidFill>
                  <a:srgbClr val="0F172A"/>
                </a:solidFill>
              </a:defRPr>
            </a:pPr>
          </a:p>
          <a:p>
            <a:pPr>
              <a:spcAft>
                <a:spcPts val="300"/>
              </a:spcAft>
              <a:defRPr sz="950">
                <a:solidFill>
                  <a:srgbClr val="0F172A"/>
                </a:solidFill>
              </a:defRPr>
            </a:pPr>
            <a:r>
              <a:t>• The Impact: Deep packet inspection (DPI) and complex sub-flow tracking are forcibly disabled by the OS.</a:t>
            </a:r>
          </a:p>
          <a:p>
            <a:pPr>
              <a:spcAft>
                <a:spcPts val="300"/>
              </a:spcAft>
              <a:defRPr sz="950">
                <a:solidFill>
                  <a:srgbClr val="0F172A"/>
                </a:solidFill>
              </a:defRPr>
            </a:pPr>
          </a:p>
          <a:p>
            <a:pPr>
              <a:spcAft>
                <a:spcPts val="300"/>
              </a:spcAft>
              <a:defRPr sz="950">
                <a:solidFill>
                  <a:srgbClr val="0F172A"/>
                </a:solidFill>
              </a:defRPr>
            </a:pPr>
            <a:r>
              <a:t>• Telemetry Corruption: Only raw hardware counters (total bytes, total packets, core flags) survive.</a:t>
            </a:r>
          </a:p>
          <a:p>
            <a:pPr>
              <a:spcAft>
                <a:spcPts val="300"/>
              </a:spcAft>
              <a:defRPr sz="950">
                <a:solidFill>
                  <a:srgbClr val="0F172A"/>
                </a:solidFill>
              </a:defRPr>
            </a:pPr>
          </a:p>
          <a:p>
            <a:pPr>
              <a:spcAft>
                <a:spcPts val="300"/>
              </a:spcAft>
              <a:defRPr sz="950">
                <a:solidFill>
                  <a:srgbClr val="0F172A"/>
                </a:solidFill>
              </a:defRPr>
            </a:pPr>
            <a:r>
              <a:t>• ML Failure: Monolithic multi-modal models fail completely when payload fields vanish.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DEEP DIVE</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Physical Anatomy of 'Sensor Overload'</a:t>
            </a:r>
          </a:p>
        </p:txBody>
      </p:sp>
      <p:sp>
        <p:nvSpPr>
          <p:cNvPr id="4" name="Rounded Rectangle 3"/>
          <p:cNvSpPr/>
          <p:nvPr/>
        </p:nvSpPr>
        <p:spPr>
          <a:xfrm>
            <a:off x="731520" y="1371600"/>
            <a:ext cx="2560320" cy="146304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08760"/>
            <a:ext cx="2286000" cy="1188720"/>
          </a:xfrm>
          <a:prstGeom prst="rect">
            <a:avLst/>
          </a:prstGeom>
          <a:noFill/>
        </p:spPr>
        <p:txBody>
          <a:bodyPr wrap="square">
            <a:spAutoFit/>
          </a:bodyPr>
          <a:lstStyle/>
          <a:p>
            <a:pPr>
              <a:defRPr sz="1100" b="1">
                <a:solidFill>
                  <a:srgbClr val="2563EB"/>
                </a:solidFill>
              </a:defRPr>
            </a:pPr>
            <a:r>
              <a:t>Step 1: Traffic Spike</a:t>
            </a:r>
          </a:p>
          <a:p>
            <a:pPr>
              <a:defRPr sz="900">
                <a:solidFill>
                  <a:srgbClr val="0F172A"/>
                </a:solidFill>
              </a:defRPr>
            </a:pPr>
            <a:r>
              <a:t>Attacker fires 10 Million pkts/sec (e.g. SYN Flood / UDP Amplification).</a:t>
            </a:r>
          </a:p>
        </p:txBody>
      </p:sp>
      <p:sp>
        <p:nvSpPr>
          <p:cNvPr id="6" name="Rounded Rectangle 5"/>
          <p:cNvSpPr/>
          <p:nvPr/>
        </p:nvSpPr>
        <p:spPr>
          <a:xfrm>
            <a:off x="3429000" y="1371600"/>
            <a:ext cx="2560320" cy="146304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508760"/>
            <a:ext cx="2286000" cy="1188720"/>
          </a:xfrm>
          <a:prstGeom prst="rect">
            <a:avLst/>
          </a:prstGeom>
          <a:noFill/>
        </p:spPr>
        <p:txBody>
          <a:bodyPr wrap="square">
            <a:spAutoFit/>
          </a:bodyPr>
          <a:lstStyle/>
          <a:p>
            <a:pPr>
              <a:defRPr sz="1100" b="1">
                <a:solidFill>
                  <a:srgbClr val="2563EB"/>
                </a:solidFill>
              </a:defRPr>
            </a:pPr>
            <a:r>
              <a:t>Step 2: NIC Buffer Drop</a:t>
            </a:r>
          </a:p>
          <a:p>
            <a:pPr>
              <a:defRPr sz="900">
                <a:solidFill>
                  <a:srgbClr val="0F172A"/>
                </a:solidFill>
              </a:defRPr>
            </a:pPr>
            <a:r>
              <a:t>Network card ring buffer overflows. Packets pass wire unrecorded (rx_dropped).</a:t>
            </a:r>
          </a:p>
        </p:txBody>
      </p:sp>
      <p:sp>
        <p:nvSpPr>
          <p:cNvPr id="8" name="Rounded Rectangle 7"/>
          <p:cNvSpPr/>
          <p:nvPr/>
        </p:nvSpPr>
        <p:spPr>
          <a:xfrm>
            <a:off x="6126480" y="1371600"/>
            <a:ext cx="2560320" cy="146304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508760"/>
            <a:ext cx="2286000" cy="1188720"/>
          </a:xfrm>
          <a:prstGeom prst="rect">
            <a:avLst/>
          </a:prstGeom>
          <a:noFill/>
        </p:spPr>
        <p:txBody>
          <a:bodyPr wrap="square">
            <a:spAutoFit/>
          </a:bodyPr>
          <a:lstStyle/>
          <a:p>
            <a:pPr>
              <a:defRPr sz="1100" b="1">
                <a:solidFill>
                  <a:srgbClr val="2563EB"/>
                </a:solidFill>
              </a:defRPr>
            </a:pPr>
            <a:r>
              <a:t>Step 3: CPU Saturation</a:t>
            </a:r>
          </a:p>
          <a:p>
            <a:pPr>
              <a:defRPr sz="900">
                <a:solidFill>
                  <a:srgbClr val="0F172A"/>
                </a:solidFill>
              </a:defRPr>
            </a:pPr>
            <a:r>
              <a:t>Sensor CPU hits 100%. Cannot calculate standard deviations or IAT floating-point math.</a:t>
            </a:r>
          </a:p>
        </p:txBody>
      </p:sp>
      <p:sp>
        <p:nvSpPr>
          <p:cNvPr id="10" name="Rounded Rectangle 9"/>
          <p:cNvSpPr/>
          <p:nvPr/>
        </p:nvSpPr>
        <p:spPr>
          <a:xfrm>
            <a:off x="8823960" y="1371600"/>
            <a:ext cx="2560320" cy="146304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508760"/>
            <a:ext cx="2286000" cy="1188720"/>
          </a:xfrm>
          <a:prstGeom prst="rect">
            <a:avLst/>
          </a:prstGeom>
          <a:noFill/>
        </p:spPr>
        <p:txBody>
          <a:bodyPr wrap="square">
            <a:spAutoFit/>
          </a:bodyPr>
          <a:lstStyle/>
          <a:p>
            <a:pPr>
              <a:defRPr sz="1100" b="1">
                <a:solidFill>
                  <a:srgbClr val="2563EB"/>
                </a:solidFill>
              </a:defRPr>
            </a:pPr>
            <a:r>
              <a:t>Step 4: Flow Table Crash</a:t>
            </a:r>
          </a:p>
          <a:p>
            <a:pPr>
              <a:defRPr sz="900">
                <a:solidFill>
                  <a:srgbClr val="0F172A"/>
                </a:solidFill>
              </a:defRPr>
            </a:pPr>
            <a:r>
              <a:t>Sensor RAM flow table explodes with 500k fake half-open sessions. Memory dumps.</a:t>
            </a:r>
          </a:p>
        </p:txBody>
      </p:sp>
      <p:sp>
        <p:nvSpPr>
          <p:cNvPr id="12" name="Rounded Rectangle 11"/>
          <p:cNvSpPr/>
          <p:nvPr/>
        </p:nvSpPr>
        <p:spPr>
          <a:xfrm>
            <a:off x="731520" y="3017520"/>
            <a:ext cx="5212080" cy="3383280"/>
          </a:xfrm>
          <a:prstGeom prst="roundRect">
            <a:avLst/>
          </a:prstGeom>
          <a:solidFill>
            <a:srgbClr val="FEF2F2"/>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00400"/>
            <a:ext cx="4754880" cy="3017520"/>
          </a:xfrm>
          <a:prstGeom prst="rect">
            <a:avLst/>
          </a:prstGeom>
          <a:noFill/>
        </p:spPr>
        <p:txBody>
          <a:bodyPr wrap="square">
            <a:spAutoFit/>
          </a:bodyPr>
          <a:lstStyle/>
          <a:p>
            <a:pPr>
              <a:spcAft>
                <a:spcPts val="800"/>
              </a:spcAft>
              <a:defRPr sz="1200" b="1">
                <a:solidFill>
                  <a:srgbClr val="DC2626"/>
                </a:solidFill>
              </a:defRPr>
            </a:pPr>
            <a:r>
              <a:t>WHAT GETS DESTROYED DURING OVERLOAD</a:t>
            </a:r>
          </a:p>
          <a:p>
            <a:pPr>
              <a:spcAft>
                <a:spcPts val="400"/>
              </a:spcAft>
              <a:defRPr sz="950">
                <a:solidFill>
                  <a:srgbClr val="0F172A"/>
                </a:solidFill>
              </a:defRPr>
            </a:pPr>
            <a:r>
              <a:t>✖ Flow IAT Statistics (Mean, Std, Min, Max): High-resolution timestamps are corrupted by buffer queues.</a:t>
            </a:r>
          </a:p>
          <a:p>
            <a:pPr>
              <a:spcAft>
                <a:spcPts val="400"/>
              </a:spcAft>
              <a:defRPr sz="950">
                <a:solidFill>
                  <a:srgbClr val="0F172A"/>
                </a:solidFill>
              </a:defRPr>
            </a:pPr>
            <a:r>
              <a:t>✖ Packet Length Variance &amp; Skewness: Requires secondary math pass that the CPU aborts.</a:t>
            </a:r>
          </a:p>
          <a:p>
            <a:pPr>
              <a:spcAft>
                <a:spcPts val="400"/>
              </a:spcAft>
              <a:defRPr sz="950">
                <a:solidFill>
                  <a:srgbClr val="0F172A"/>
                </a:solidFill>
              </a:defRPr>
            </a:pPr>
            <a:r>
              <a:t>✖ Active / Idle Window Tracking: Session tracking state machine is purged to save memory.</a:t>
            </a:r>
          </a:p>
          <a:p>
            <a:pPr>
              <a:spcAft>
                <a:spcPts val="400"/>
              </a:spcAft>
              <a:defRPr sz="950">
                <a:solidFill>
                  <a:srgbClr val="0F172A"/>
                </a:solidFill>
              </a:defRPr>
            </a:pPr>
            <a:r>
              <a:t>✖ Deep Packet Inspection (DPI): Payload inspection buffers are turned off to prevent system freeze.</a:t>
            </a:r>
          </a:p>
        </p:txBody>
      </p:sp>
      <p:sp>
        <p:nvSpPr>
          <p:cNvPr id="14" name="Rounded Rectangle 13"/>
          <p:cNvSpPr/>
          <p:nvPr/>
        </p:nvSpPr>
        <p:spPr>
          <a:xfrm>
            <a:off x="6217920" y="3017520"/>
            <a:ext cx="5212080" cy="3383280"/>
          </a:xfrm>
          <a:prstGeom prst="roundRect">
            <a:avLst/>
          </a:prstGeom>
          <a:solidFill>
            <a:srgbClr val="F0FDF4"/>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3200400"/>
            <a:ext cx="4754880" cy="3017520"/>
          </a:xfrm>
          <a:prstGeom prst="rect">
            <a:avLst/>
          </a:prstGeom>
          <a:noFill/>
        </p:spPr>
        <p:txBody>
          <a:bodyPr wrap="square">
            <a:spAutoFit/>
          </a:bodyPr>
          <a:lstStyle/>
          <a:p>
            <a:pPr>
              <a:spcAft>
                <a:spcPts val="800"/>
              </a:spcAft>
              <a:defRPr sz="1200" b="1">
                <a:solidFill>
                  <a:srgbClr val="16A34A"/>
                </a:solidFill>
              </a:defRPr>
            </a:pPr>
            <a:r>
              <a:t>WHAT SURVIVES ON HARDWARE COUNTERS</a:t>
            </a:r>
          </a:p>
          <a:p>
            <a:pPr>
              <a:spcAft>
                <a:spcPts val="400"/>
              </a:spcAft>
              <a:defRPr sz="950">
                <a:solidFill>
                  <a:srgbClr val="0F172A"/>
                </a:solidFill>
              </a:defRPr>
            </a:pPr>
            <a:r>
              <a:t>✔ Raw Packet Counters: Hardware NIC registers (ASIC) count raw packet pulses with zero CPU.</a:t>
            </a:r>
          </a:p>
          <a:p>
            <a:pPr>
              <a:spcAft>
                <a:spcPts val="400"/>
              </a:spcAft>
              <a:defRPr sz="950">
                <a:solidFill>
                  <a:srgbClr val="0F172A"/>
                </a:solidFill>
              </a:defRPr>
            </a:pPr>
            <a:r>
              <a:t>✔ Raw Byte Volume: Total wire bytes transferred (accumulated by network card registers).</a:t>
            </a:r>
          </a:p>
          <a:p>
            <a:pPr>
              <a:spcAft>
                <a:spcPts val="400"/>
              </a:spcAft>
              <a:defRPr sz="950">
                <a:solidFill>
                  <a:srgbClr val="0F172A"/>
                </a:solidFill>
              </a:defRPr>
            </a:pPr>
            <a:r>
              <a:t>✔ Coarse TCP Flag Pulses: Hardware registers can flag pure SYN bursts vs. legitimate traffic.</a:t>
            </a:r>
          </a:p>
          <a:p>
            <a:pPr>
              <a:spcAft>
                <a:spcPts val="400"/>
              </a:spcAft>
              <a:defRPr sz="950">
                <a:solidFill>
                  <a:srgbClr val="0F172A"/>
                </a:solidFill>
              </a:defRPr>
            </a:pPr>
            <a:r>
              <a:t>✔ Distinct Port Hits: Coarse fan-out IP counters.</a:t>
            </a:r>
          </a:p>
          <a:p>
            <a:pPr>
              <a:spcAft>
                <a:spcPts val="400"/>
              </a:spcAft>
              <a:defRPr sz="950">
                <a:solidFill>
                  <a:srgbClr val="0F172A"/>
                </a:solidFill>
              </a:defRPr>
            </a:pPr>
            <a:r>
              <a:t>✔ KEY INSIGHT: Mode 3 (Fallback) is engineered to run ONLY on these surviving hardware signals!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PROPOSED ARCHITECTURE</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Telemetry-Aware Multi-Mode Detection &amp; Prevention (TIDPS)</a:t>
            </a:r>
          </a:p>
        </p:txBody>
      </p:sp>
      <p:sp>
        <p:nvSpPr>
          <p:cNvPr id="4" name="Rounded Rectangle 3"/>
          <p:cNvSpPr/>
          <p:nvPr/>
        </p:nvSpPr>
        <p:spPr>
          <a:xfrm>
            <a:off x="731520" y="1371600"/>
            <a:ext cx="25603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2286000" cy="4572000"/>
          </a:xfrm>
          <a:prstGeom prst="rect">
            <a:avLst/>
          </a:prstGeom>
          <a:noFill/>
        </p:spPr>
        <p:txBody>
          <a:bodyPr wrap="square">
            <a:spAutoFit/>
          </a:bodyPr>
          <a:lstStyle/>
          <a:p>
            <a:pPr>
              <a:defRPr sz="1200" b="1">
                <a:solidFill>
                  <a:srgbClr val="2563EB"/>
                </a:solidFill>
              </a:defRPr>
            </a:pPr>
            <a:r>
              <a:t>STAGE 1: Ingestion &amp; TQM</a:t>
            </a:r>
          </a:p>
          <a:p>
            <a:pPr>
              <a:spcAft>
                <a:spcPts val="800"/>
              </a:spcAft>
              <a:defRPr sz="950" i="1">
                <a:solidFill>
                  <a:srgbClr val="64748B"/>
                </a:solidFill>
              </a:defRPr>
            </a:pPr>
            <a:r>
              <a:t>Telemetry Quality Monitor</a:t>
            </a:r>
          </a:p>
          <a:p>
            <a:pPr>
              <a:spcAft>
                <a:spcPts val="200"/>
              </a:spcAft>
              <a:defRPr sz="900">
                <a:solidFill>
                  <a:srgbClr val="0F172A"/>
                </a:solidFill>
              </a:defRPr>
            </a:pPr>
            <a:r>
              <a:t>• Flow arrives from network.</a:t>
            </a:r>
          </a:p>
          <a:p>
            <a:pPr>
              <a:spcAft>
                <a:spcPts val="200"/>
              </a:spcAft>
              <a:defRPr sz="900">
                <a:solidFill>
                  <a:srgbClr val="0F172A"/>
                </a:solidFill>
              </a:defRPr>
            </a:pPr>
            <a:r>
              <a:t>• TQM evaluates data health.</a:t>
            </a:r>
          </a:p>
          <a:p>
            <a:pPr>
              <a:spcAft>
                <a:spcPts val="200"/>
              </a:spcAft>
              <a:defRPr sz="900">
                <a:solidFill>
                  <a:srgbClr val="0F172A"/>
                </a:solidFill>
              </a:defRPr>
            </a:pPr>
            <a:r>
              <a:t>• Computes Completeness Index (C).</a:t>
            </a:r>
          </a:p>
          <a:p>
            <a:pPr>
              <a:spcAft>
                <a:spcPts val="200"/>
              </a:spcAft>
              <a:defRPr sz="900">
                <a:solidFill>
                  <a:srgbClr val="0F172A"/>
                </a:solidFill>
              </a:defRPr>
            </a:pPr>
            <a:r>
              <a:t>• Checks Physical Network Invariants (S).</a:t>
            </a:r>
          </a:p>
          <a:p>
            <a:pPr>
              <a:spcAft>
                <a:spcPts val="200"/>
              </a:spcAft>
              <a:defRPr sz="900">
                <a:solidFill>
                  <a:srgbClr val="0F172A"/>
                </a:solidFill>
              </a:defRPr>
            </a:pPr>
            <a:r>
              <a:t>• Produces Quality Score Q ∈ [0.0, 1.0].</a:t>
            </a:r>
          </a:p>
        </p:txBody>
      </p:sp>
      <p:sp>
        <p:nvSpPr>
          <p:cNvPr id="6" name="Rounded Rectangle 5"/>
          <p:cNvSpPr/>
          <p:nvPr/>
        </p:nvSpPr>
        <p:spPr>
          <a:xfrm>
            <a:off x="3429000" y="1371600"/>
            <a:ext cx="25603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554480"/>
            <a:ext cx="2286000" cy="4572000"/>
          </a:xfrm>
          <a:prstGeom prst="rect">
            <a:avLst/>
          </a:prstGeom>
          <a:noFill/>
        </p:spPr>
        <p:txBody>
          <a:bodyPr wrap="square">
            <a:spAutoFit/>
          </a:bodyPr>
          <a:lstStyle/>
          <a:p>
            <a:pPr>
              <a:defRPr sz="1200" b="1">
                <a:solidFill>
                  <a:srgbClr val="0EA5E9"/>
                </a:solidFill>
              </a:defRPr>
            </a:pPr>
            <a:r>
              <a:t>STAGE 2: Dynamic Arbiter</a:t>
            </a:r>
          </a:p>
          <a:p>
            <a:pPr>
              <a:spcAft>
                <a:spcPts val="800"/>
              </a:spcAft>
              <a:defRPr sz="950" i="1">
                <a:solidFill>
                  <a:srgbClr val="64748B"/>
                </a:solidFill>
              </a:defRPr>
            </a:pPr>
            <a:r>
              <a:t>Hysteresis Model Dispatcher</a:t>
            </a:r>
          </a:p>
          <a:p>
            <a:pPr>
              <a:spcAft>
                <a:spcPts val="200"/>
              </a:spcAft>
              <a:defRPr sz="900">
                <a:solidFill>
                  <a:srgbClr val="0F172A"/>
                </a:solidFill>
              </a:defRPr>
            </a:pPr>
            <a:r>
              <a:t>• Reads Quality Score Q.</a:t>
            </a:r>
          </a:p>
          <a:p>
            <a:pPr>
              <a:spcAft>
                <a:spcPts val="200"/>
              </a:spcAft>
              <a:defRPr sz="900">
                <a:solidFill>
                  <a:srgbClr val="0F172A"/>
                </a:solidFill>
              </a:defRPr>
            </a:pPr>
            <a:r>
              <a:t>• Applies ±0.05 Hysteresis band.</a:t>
            </a:r>
          </a:p>
          <a:p>
            <a:pPr>
              <a:spcAft>
                <a:spcPts val="200"/>
              </a:spcAft>
              <a:defRPr sz="900">
                <a:solidFill>
                  <a:srgbClr val="0F172A"/>
                </a:solidFill>
              </a:defRPr>
            </a:pPr>
            <a:r>
              <a:t>• Eliminates 'mode flapping'.</a:t>
            </a:r>
          </a:p>
          <a:p>
            <a:pPr>
              <a:spcAft>
                <a:spcPts val="200"/>
              </a:spcAft>
              <a:defRPr sz="900">
                <a:solidFill>
                  <a:srgbClr val="0F172A"/>
                </a:solidFill>
              </a:defRPr>
            </a:pPr>
            <a:r>
              <a:t>• Routes flow to prevalidated specialist:</a:t>
            </a:r>
          </a:p>
          <a:p>
            <a:pPr>
              <a:spcAft>
                <a:spcPts val="200"/>
              </a:spcAft>
              <a:defRPr sz="900">
                <a:solidFill>
                  <a:srgbClr val="0F172A"/>
                </a:solidFill>
              </a:defRPr>
            </a:pPr>
            <a:r>
              <a:t>  Mode 1 (Full) | Mode 2 (Degraded) | Mode 3 (Fallback).</a:t>
            </a:r>
          </a:p>
        </p:txBody>
      </p:sp>
      <p:sp>
        <p:nvSpPr>
          <p:cNvPr id="8" name="Rounded Rectangle 7"/>
          <p:cNvSpPr/>
          <p:nvPr/>
        </p:nvSpPr>
        <p:spPr>
          <a:xfrm>
            <a:off x="6126480" y="1371600"/>
            <a:ext cx="25603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554480"/>
            <a:ext cx="2286000" cy="4572000"/>
          </a:xfrm>
          <a:prstGeom prst="rect">
            <a:avLst/>
          </a:prstGeom>
          <a:noFill/>
        </p:spPr>
        <p:txBody>
          <a:bodyPr wrap="square">
            <a:spAutoFit/>
          </a:bodyPr>
          <a:lstStyle/>
          <a:p>
            <a:pPr>
              <a:defRPr sz="1200" b="1">
                <a:solidFill>
                  <a:srgbClr val="D97706"/>
                </a:solidFill>
              </a:defRPr>
            </a:pPr>
            <a:r>
              <a:t>STAGE 3: Detection Engine</a:t>
            </a:r>
          </a:p>
          <a:p>
            <a:pPr>
              <a:spcAft>
                <a:spcPts val="800"/>
              </a:spcAft>
              <a:defRPr sz="950" i="1">
                <a:solidFill>
                  <a:srgbClr val="64748B"/>
                </a:solidFill>
              </a:defRPr>
            </a:pPr>
            <a:r>
              <a:t>Prevalidated Tiered Inference</a:t>
            </a:r>
          </a:p>
          <a:p>
            <a:pPr>
              <a:spcAft>
                <a:spcPts val="200"/>
              </a:spcAft>
              <a:defRPr sz="900">
                <a:solidFill>
                  <a:srgbClr val="0F172A"/>
                </a:solidFill>
              </a:defRPr>
            </a:pPr>
            <a:r>
              <a:t>• Mode 1: 78-feature ML for clean traffic.</a:t>
            </a:r>
          </a:p>
          <a:p>
            <a:pPr>
              <a:spcAft>
                <a:spcPts val="200"/>
              </a:spcAft>
              <a:defRPr sz="900">
                <a:solidFill>
                  <a:srgbClr val="0F172A"/>
                </a:solidFill>
              </a:defRPr>
            </a:pPr>
            <a:r>
              <a:t>• Mode 2: 16-feature ML for lossy traffic.</a:t>
            </a:r>
          </a:p>
          <a:p>
            <a:pPr>
              <a:spcAft>
                <a:spcPts val="200"/>
              </a:spcAft>
              <a:defRPr sz="900">
                <a:solidFill>
                  <a:srgbClr val="0F172A"/>
                </a:solidFill>
              </a:defRPr>
            </a:pPr>
            <a:r>
              <a:t>• Mode 3: Threshold rules for critical failure.</a:t>
            </a:r>
          </a:p>
          <a:p>
            <a:pPr>
              <a:spcAft>
                <a:spcPts val="200"/>
              </a:spcAft>
              <a:defRPr sz="900">
                <a:solidFill>
                  <a:srgbClr val="0F172A"/>
                </a:solidFill>
              </a:defRPr>
            </a:pPr>
            <a:r>
              <a:t>• Delivers deterministic threat classification.</a:t>
            </a:r>
          </a:p>
        </p:txBody>
      </p:sp>
      <p:sp>
        <p:nvSpPr>
          <p:cNvPr id="10" name="Rounded Rectangle 9"/>
          <p:cNvSpPr/>
          <p:nvPr/>
        </p:nvSpPr>
        <p:spPr>
          <a:xfrm>
            <a:off x="8823960" y="1371600"/>
            <a:ext cx="25603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554480"/>
            <a:ext cx="2286000" cy="4572000"/>
          </a:xfrm>
          <a:prstGeom prst="rect">
            <a:avLst/>
          </a:prstGeom>
          <a:noFill/>
        </p:spPr>
        <p:txBody>
          <a:bodyPr wrap="square">
            <a:spAutoFit/>
          </a:bodyPr>
          <a:lstStyle/>
          <a:p>
            <a:pPr>
              <a:defRPr sz="1200" b="1">
                <a:solidFill>
                  <a:srgbClr val="16A34A"/>
                </a:solidFill>
              </a:defRPr>
            </a:pPr>
            <a:r>
              <a:t>STAGE 4: Adaptive Prevention</a:t>
            </a:r>
          </a:p>
          <a:p>
            <a:pPr>
              <a:spcAft>
                <a:spcPts val="800"/>
              </a:spcAft>
              <a:defRPr sz="950" i="1">
                <a:solidFill>
                  <a:srgbClr val="64748B"/>
                </a:solidFill>
              </a:defRPr>
            </a:pPr>
            <a:r>
              <a:t>Tiered Alerting &amp; Response</a:t>
            </a:r>
          </a:p>
          <a:p>
            <a:pPr>
              <a:spcAft>
                <a:spcPts val="200"/>
              </a:spcAft>
              <a:defRPr sz="900">
                <a:solidFill>
                  <a:srgbClr val="0F172A"/>
                </a:solidFill>
              </a:defRPr>
            </a:pPr>
            <a:r>
              <a:t>• Low Threat: Log event to dashboard.</a:t>
            </a:r>
          </a:p>
          <a:p>
            <a:pPr>
              <a:spcAft>
                <a:spcPts val="200"/>
              </a:spcAft>
              <a:defRPr sz="900">
                <a:solidFill>
                  <a:srgbClr val="0F172A"/>
                </a:solidFill>
              </a:defRPr>
            </a:pPr>
            <a:r>
              <a:t>• Medium Threat: Trigger rate-limiting + Telegram alert.</a:t>
            </a:r>
          </a:p>
          <a:p>
            <a:pPr>
              <a:spcAft>
                <a:spcPts val="200"/>
              </a:spcAft>
              <a:defRPr sz="900">
                <a:solidFill>
                  <a:srgbClr val="0F172A"/>
                </a:solidFill>
              </a:defRPr>
            </a:pPr>
            <a:r>
              <a:t>• High Threat: Instant firewall IP quarantine drop rule.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MATHEMATICAL FORMULATION</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Telemetry Quality Monitor (TQM) &amp; Score Formulation</a:t>
            </a:r>
          </a:p>
        </p:txBody>
      </p:sp>
      <p:sp>
        <p:nvSpPr>
          <p:cNvPr id="4" name="Rounded Rectangle 3"/>
          <p:cNvSpPr/>
          <p:nvPr/>
        </p:nvSpPr>
        <p:spPr>
          <a:xfrm>
            <a:off x="731520" y="1371600"/>
            <a:ext cx="548640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5029200" cy="4572000"/>
          </a:xfrm>
          <a:prstGeom prst="rect">
            <a:avLst/>
          </a:prstGeom>
          <a:noFill/>
        </p:spPr>
        <p:txBody>
          <a:bodyPr wrap="square">
            <a:spAutoFit/>
          </a:bodyPr>
          <a:lstStyle/>
          <a:p>
            <a:pPr>
              <a:spcAft>
                <a:spcPts val="800"/>
              </a:spcAft>
              <a:defRPr sz="1300" b="1">
                <a:solidFill>
                  <a:srgbClr val="2563EB"/>
                </a:solidFill>
              </a:defRPr>
            </a:pPr>
            <a:r>
              <a:t>MATHEMATICAL FORMULATION OF QUALITY SCORE Q</a:t>
            </a:r>
          </a:p>
          <a:p>
            <a:pPr>
              <a:defRPr sz="950">
                <a:solidFill>
                  <a:srgbClr val="0F172A"/>
                </a:solidFill>
              </a:defRPr>
            </a:pPr>
            <a:r>
              <a:t>1. Observed Flow Vector:</a:t>
            </a:r>
          </a:p>
          <a:p>
            <a:pPr>
              <a:defRPr sz="950">
                <a:solidFill>
                  <a:srgbClr val="0F172A"/>
                </a:solidFill>
              </a:defRPr>
            </a:pPr>
            <a:r>
              <a:t>    x(t) = m(t) ⊙ x*(t) + ε(t)</a:t>
            </a:r>
          </a:p>
          <a:p>
            <a:pPr>
              <a:defRPr sz="950">
                <a:solidFill>
                  <a:srgbClr val="0F172A"/>
                </a:solidFill>
              </a:defRPr>
            </a:pPr>
            <a:r>
              <a:t>    Where m(t) ∈ {0, 1}^D is the observability mask and ε is jitter noise.</a:t>
            </a:r>
          </a:p>
          <a:p>
            <a:pPr>
              <a:defRPr sz="950">
                <a:solidFill>
                  <a:srgbClr val="0F172A"/>
                </a:solidFill>
              </a:defRPr>
            </a:pPr>
          </a:p>
          <a:p>
            <a:pPr>
              <a:defRPr sz="950">
                <a:solidFill>
                  <a:srgbClr val="0F172A"/>
                </a:solidFill>
              </a:defRPr>
            </a:pPr>
            <a:r>
              <a:t>2. Weighted Completeness Index C(t):</a:t>
            </a:r>
          </a:p>
          <a:p>
            <a:pPr>
              <a:defRPr sz="950">
                <a:solidFill>
                  <a:srgbClr val="0F172A"/>
                </a:solidFill>
              </a:defRPr>
            </a:pPr>
            <a:r>
              <a:t>    C(t) = (Σ w_i · m_i) / (Σ w_i) ∈ [0, 1]</a:t>
            </a:r>
          </a:p>
          <a:p>
            <a:pPr>
              <a:defRPr sz="950">
                <a:solidFill>
                  <a:srgbClr val="0F172A"/>
                </a:solidFill>
              </a:defRPr>
            </a:pPr>
            <a:r>
              <a:t>    w_i = Mutual Information importance weight of feature i.</a:t>
            </a:r>
          </a:p>
          <a:p>
            <a:pPr>
              <a:defRPr sz="950">
                <a:solidFill>
                  <a:srgbClr val="0F172A"/>
                </a:solidFill>
              </a:defRPr>
            </a:pPr>
          </a:p>
          <a:p>
            <a:pPr>
              <a:defRPr sz="950">
                <a:solidFill>
                  <a:srgbClr val="0F172A"/>
                </a:solidFill>
              </a:defRPr>
            </a:pPr>
            <a:r>
              <a:t>3. Physical Invariant Consistency S(t):</a:t>
            </a:r>
          </a:p>
          <a:p>
            <a:pPr>
              <a:defRPr sz="950">
                <a:solidFill>
                  <a:srgbClr val="0F172A"/>
                </a:solidFill>
              </a:defRPr>
            </a:pPr>
            <a:r>
              <a:t>    Evaluates physical networking laws:</a:t>
            </a:r>
          </a:p>
          <a:p>
            <a:pPr>
              <a:defRPr sz="950">
                <a:solidFill>
                  <a:srgbClr val="0F172A"/>
                </a:solidFill>
              </a:defRPr>
            </a:pPr>
            <a:r>
              <a:t>    - Total Bytes ≥ Total Packets × 20 (IP Header Minimum)</a:t>
            </a:r>
          </a:p>
          <a:p>
            <a:pPr>
              <a:defRPr sz="950">
                <a:solidFill>
                  <a:srgbClr val="0F172A"/>
                </a:solidFill>
              </a:defRPr>
            </a:pPr>
            <a:r>
              <a:t>    - Positive Flow Duration &amp; Valid TCP Flag bitmask combinations.</a:t>
            </a:r>
          </a:p>
          <a:p>
            <a:pPr>
              <a:defRPr sz="950">
                <a:solidFill>
                  <a:srgbClr val="0F172A"/>
                </a:solidFill>
              </a:defRPr>
            </a:pPr>
          </a:p>
          <a:p>
            <a:pPr>
              <a:defRPr sz="950">
                <a:solidFill>
                  <a:srgbClr val="0F172A"/>
                </a:solidFill>
              </a:defRPr>
            </a:pPr>
            <a:r>
              <a:t>4. Composite Quality Score Q(t):</a:t>
            </a:r>
          </a:p>
          <a:p>
            <a:pPr>
              <a:defRPr sz="950">
                <a:solidFill>
                  <a:srgbClr val="0F172A"/>
                </a:solidFill>
              </a:defRPr>
            </a:pPr>
            <a:r>
              <a:t>    Q(t) = 0.70 · C(t) + 0.30 · S(t)</a:t>
            </a:r>
          </a:p>
          <a:p>
            <a:pPr>
              <a:defRPr sz="950">
                <a:solidFill>
                  <a:srgbClr val="0F172A"/>
                </a:solidFill>
              </a:defRPr>
            </a:pPr>
            <a:r>
              <a:t>    Produces a normalized health metric from 0.0 to 1.0.</a:t>
            </a:r>
          </a:p>
        </p:txBody>
      </p:sp>
      <p:sp>
        <p:nvSpPr>
          <p:cNvPr id="6" name="Rounded Rectangle 5"/>
          <p:cNvSpPr/>
          <p:nvPr/>
        </p:nvSpPr>
        <p:spPr>
          <a:xfrm>
            <a:off x="6492240" y="1371600"/>
            <a:ext cx="4937760" cy="1554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508760"/>
            <a:ext cx="4572000" cy="1280160"/>
          </a:xfrm>
          <a:prstGeom prst="rect">
            <a:avLst/>
          </a:prstGeom>
          <a:noFill/>
        </p:spPr>
        <p:txBody>
          <a:bodyPr wrap="square">
            <a:spAutoFit/>
          </a:bodyPr>
          <a:lstStyle/>
          <a:p>
            <a:pPr>
              <a:spcAft>
                <a:spcPts val="400"/>
              </a:spcAft>
              <a:defRPr sz="1100" b="1">
                <a:solidFill>
                  <a:srgbClr val="16A34A"/>
                </a:solidFill>
              </a:defRPr>
            </a:pPr>
            <a:r>
              <a:t>REGIME 1: GOOD TELEMETRY [Q(t) ≥ 0.80]</a:t>
            </a:r>
          </a:p>
          <a:p>
            <a:pPr>
              <a:defRPr sz="900">
                <a:solidFill>
                  <a:srgbClr val="0F172A"/>
                </a:solidFill>
              </a:defRPr>
            </a:pPr>
            <a:r>
              <a:t>• All/most flow attributes present and verified.</a:t>
            </a:r>
          </a:p>
          <a:p>
            <a:pPr>
              <a:defRPr sz="900">
                <a:solidFill>
                  <a:srgbClr val="0F172A"/>
                </a:solidFill>
              </a:defRPr>
            </a:pPr>
            <a:r>
              <a:t>• Routes flow to Mode 1 (Full-Feature ML).</a:t>
            </a:r>
          </a:p>
          <a:p>
            <a:pPr>
              <a:defRPr sz="900">
                <a:solidFill>
                  <a:srgbClr val="0F172A"/>
                </a:solidFill>
              </a:defRPr>
            </a:pPr>
            <a:r>
              <a:t>• Delivers maximum precision across all attack vectors.</a:t>
            </a:r>
          </a:p>
        </p:txBody>
      </p:sp>
      <p:sp>
        <p:nvSpPr>
          <p:cNvPr id="8" name="Rounded Rectangle 7"/>
          <p:cNvSpPr/>
          <p:nvPr/>
        </p:nvSpPr>
        <p:spPr>
          <a:xfrm>
            <a:off x="6492240" y="3063240"/>
            <a:ext cx="4937760" cy="1554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200400"/>
            <a:ext cx="4572000" cy="1280160"/>
          </a:xfrm>
          <a:prstGeom prst="rect">
            <a:avLst/>
          </a:prstGeom>
          <a:noFill/>
        </p:spPr>
        <p:txBody>
          <a:bodyPr wrap="square">
            <a:spAutoFit/>
          </a:bodyPr>
          <a:lstStyle/>
          <a:p>
            <a:pPr>
              <a:spcAft>
                <a:spcPts val="400"/>
              </a:spcAft>
              <a:defRPr sz="1100" b="1">
                <a:solidFill>
                  <a:srgbClr val="D97706"/>
                </a:solidFill>
              </a:defRPr>
            </a:pPr>
            <a:r>
              <a:t>REGIME 2: DEGRADED TELEMETRY [0.40 ≤ Q(t) &lt; 0.80]</a:t>
            </a:r>
          </a:p>
          <a:p>
            <a:pPr>
              <a:defRPr sz="900">
                <a:solidFill>
                  <a:srgbClr val="0F172A"/>
                </a:solidFill>
              </a:defRPr>
            </a:pPr>
            <a:r>
              <a:t>• Backward features missing or timings jittered.</a:t>
            </a:r>
          </a:p>
          <a:p>
            <a:pPr>
              <a:defRPr sz="900">
                <a:solidFill>
                  <a:srgbClr val="0F172A"/>
                </a:solidFill>
              </a:defRPr>
            </a:pPr>
            <a:r>
              <a:t>• Routes flow to Mode 2 (Reduced L3/L4 ML).</a:t>
            </a:r>
          </a:p>
          <a:p>
            <a:pPr>
              <a:defRPr sz="900">
                <a:solidFill>
                  <a:srgbClr val="0F172A"/>
                </a:solidFill>
              </a:defRPr>
            </a:pPr>
            <a:r>
              <a:t>• Preserves detection using only immutable header fields.</a:t>
            </a:r>
          </a:p>
        </p:txBody>
      </p:sp>
      <p:sp>
        <p:nvSpPr>
          <p:cNvPr id="10" name="Rounded Rectangle 9"/>
          <p:cNvSpPr/>
          <p:nvPr/>
        </p:nvSpPr>
        <p:spPr>
          <a:xfrm>
            <a:off x="6492240" y="4754880"/>
            <a:ext cx="4937760" cy="1554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4892040"/>
            <a:ext cx="4572000" cy="1280160"/>
          </a:xfrm>
          <a:prstGeom prst="rect">
            <a:avLst/>
          </a:prstGeom>
          <a:noFill/>
        </p:spPr>
        <p:txBody>
          <a:bodyPr wrap="square">
            <a:spAutoFit/>
          </a:bodyPr>
          <a:lstStyle/>
          <a:p>
            <a:pPr>
              <a:spcAft>
                <a:spcPts val="400"/>
              </a:spcAft>
              <a:defRPr sz="1100" b="1">
                <a:solidFill>
                  <a:srgbClr val="DC2626"/>
                </a:solidFill>
              </a:defRPr>
            </a:pPr>
            <a:r>
              <a:t>REGIME 3: CRITICAL TELEMETRY [Q(t) &lt; 0.40]</a:t>
            </a:r>
          </a:p>
          <a:p>
            <a:pPr>
              <a:defRPr sz="900">
                <a:solidFill>
                  <a:srgbClr val="0F172A"/>
                </a:solidFill>
              </a:defRPr>
            </a:pPr>
            <a:r>
              <a:t>• Sensor overloaded, sampling severe, payload stripped.</a:t>
            </a:r>
          </a:p>
          <a:p>
            <a:pPr>
              <a:defRPr sz="900">
                <a:solidFill>
                  <a:srgbClr val="0F172A"/>
                </a:solidFill>
              </a:defRPr>
            </a:pPr>
            <a:r>
              <a:t>• Routes flow to Mode 3 (Deterministic Fallback).</a:t>
            </a:r>
          </a:p>
          <a:p>
            <a:pPr>
              <a:defRPr sz="900">
                <a:solidFill>
                  <a:srgbClr val="0F172A"/>
                </a:solidFill>
              </a:defRPr>
            </a:pPr>
            <a:r>
              <a:t>• Guarantees non-zero defense against volumetric floods.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DETECTION ARCHITECTURE</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The 3 Prevalidated Detection Modes (The Specialists)</a:t>
            </a:r>
          </a:p>
        </p:txBody>
      </p:sp>
      <p:sp>
        <p:nvSpPr>
          <p:cNvPr id="4" name="Rounded Rectangle 3"/>
          <p:cNvSpPr/>
          <p:nvPr/>
        </p:nvSpPr>
        <p:spPr>
          <a:xfrm>
            <a:off x="731520" y="1371600"/>
            <a:ext cx="34747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108960" cy="4572000"/>
          </a:xfrm>
          <a:prstGeom prst="rect">
            <a:avLst/>
          </a:prstGeom>
          <a:noFill/>
        </p:spPr>
        <p:txBody>
          <a:bodyPr wrap="square">
            <a:spAutoFit/>
          </a:bodyPr>
          <a:lstStyle/>
          <a:p>
            <a:pPr>
              <a:defRPr sz="1300" b="1">
                <a:solidFill>
                  <a:srgbClr val="2563EB"/>
                </a:solidFill>
              </a:defRPr>
            </a:pPr>
            <a:r>
              <a:t>MODE 1: FULL ML</a:t>
            </a:r>
          </a:p>
          <a:p>
            <a:pPr>
              <a:defRPr sz="1000" i="1">
                <a:solidFill>
                  <a:srgbClr val="64748B"/>
                </a:solidFill>
              </a:defRPr>
            </a:pPr>
            <a:r>
              <a:t>The Chief Surgeon</a:t>
            </a:r>
          </a:p>
          <a:p>
            <a:pPr>
              <a:spcAft>
                <a:spcPts val="800"/>
              </a:spcAft>
              <a:defRPr sz="850" b="1">
                <a:solidFill>
                  <a:srgbClr val="2563EB"/>
                </a:solidFill>
              </a:defRPr>
            </a:pPr>
            <a:r>
              <a:t>When Telemetry is Pristine (Q ≥ 0.80)</a:t>
            </a:r>
          </a:p>
          <a:p>
            <a:pPr>
              <a:spcAft>
                <a:spcPts val="200"/>
              </a:spcAft>
              <a:defRPr sz="900">
                <a:solidFill>
                  <a:srgbClr val="0F172A"/>
                </a:solidFill>
              </a:defRPr>
            </a:pPr>
            <a:r>
              <a:t>• Model: Tuned Random Forest / XGBoost.</a:t>
            </a:r>
          </a:p>
          <a:p>
            <a:pPr>
              <a:spcAft>
                <a:spcPts val="200"/>
              </a:spcAft>
              <a:defRPr sz="900">
                <a:solidFill>
                  <a:srgbClr val="0F172A"/>
                </a:solidFill>
              </a:defRPr>
            </a:pPr>
          </a:p>
          <a:p>
            <a:pPr>
              <a:spcAft>
                <a:spcPts val="200"/>
              </a:spcAft>
              <a:defRPr sz="900">
                <a:solidFill>
                  <a:srgbClr val="0F172A"/>
                </a:solidFill>
              </a:defRPr>
            </a:pPr>
            <a:r>
              <a:t>• Feature Subspace: Full 78 Features:</a:t>
            </a:r>
          </a:p>
          <a:p>
            <a:pPr>
              <a:spcAft>
                <a:spcPts val="200"/>
              </a:spcAft>
              <a:defRPr sz="900">
                <a:solidFill>
                  <a:srgbClr val="0F172A"/>
                </a:solidFill>
              </a:defRPr>
            </a:pPr>
            <a:r>
              <a:t>  - Forward &amp; Backward statistics</a:t>
            </a:r>
          </a:p>
          <a:p>
            <a:pPr>
              <a:spcAft>
                <a:spcPts val="200"/>
              </a:spcAft>
              <a:defRPr sz="900">
                <a:solidFill>
                  <a:srgbClr val="0F172A"/>
                </a:solidFill>
              </a:defRPr>
            </a:pPr>
            <a:r>
              <a:t>  - Flow Inter-Arrival Time distributions</a:t>
            </a:r>
          </a:p>
          <a:p>
            <a:pPr>
              <a:spcAft>
                <a:spcPts val="200"/>
              </a:spcAft>
              <a:defRPr sz="900">
                <a:solidFill>
                  <a:srgbClr val="0F172A"/>
                </a:solidFill>
              </a:defRPr>
            </a:pPr>
            <a:r>
              <a:t>  - Sub-flow byte counts, TCP window sizes.</a:t>
            </a:r>
          </a:p>
          <a:p>
            <a:pPr>
              <a:spcAft>
                <a:spcPts val="200"/>
              </a:spcAft>
              <a:defRPr sz="900">
                <a:solidFill>
                  <a:srgbClr val="0F172A"/>
                </a:solidFill>
              </a:defRPr>
            </a:pPr>
          </a:p>
          <a:p>
            <a:pPr>
              <a:spcAft>
                <a:spcPts val="200"/>
              </a:spcAft>
              <a:defRPr sz="900">
                <a:solidFill>
                  <a:srgbClr val="0F172A"/>
                </a:solidFill>
              </a:defRPr>
            </a:pPr>
            <a:r>
              <a:t>• Specialty: Detecting stealthy multi-stage attacks, low-and-slow infiltration, and subtle reconnaissance.</a:t>
            </a:r>
          </a:p>
          <a:p>
            <a:pPr>
              <a:spcAft>
                <a:spcPts val="200"/>
              </a:spcAft>
              <a:defRPr sz="900">
                <a:solidFill>
                  <a:srgbClr val="0F172A"/>
                </a:solidFill>
              </a:defRPr>
            </a:pPr>
          </a:p>
          <a:p>
            <a:pPr>
              <a:spcAft>
                <a:spcPts val="200"/>
              </a:spcAft>
              <a:defRPr sz="900">
                <a:solidFill>
                  <a:srgbClr val="0F172A"/>
                </a:solidFill>
              </a:defRPr>
            </a:pPr>
            <a:r>
              <a:t>• Latency: ~0.12 ms / flow.</a:t>
            </a:r>
          </a:p>
        </p:txBody>
      </p:sp>
      <p:sp>
        <p:nvSpPr>
          <p:cNvPr id="6" name="Rounded Rectangle 5"/>
          <p:cNvSpPr/>
          <p:nvPr/>
        </p:nvSpPr>
        <p:spPr>
          <a:xfrm>
            <a:off x="4343400" y="1371600"/>
            <a:ext cx="34747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54480"/>
            <a:ext cx="3108960" cy="4572000"/>
          </a:xfrm>
          <a:prstGeom prst="rect">
            <a:avLst/>
          </a:prstGeom>
          <a:noFill/>
        </p:spPr>
        <p:txBody>
          <a:bodyPr wrap="square">
            <a:spAutoFit/>
          </a:bodyPr>
          <a:lstStyle/>
          <a:p>
            <a:pPr>
              <a:defRPr sz="1300" b="1">
                <a:solidFill>
                  <a:srgbClr val="0EA5E9"/>
                </a:solidFill>
              </a:defRPr>
            </a:pPr>
            <a:r>
              <a:t>MODE 2: DEGRADED ML</a:t>
            </a:r>
          </a:p>
          <a:p>
            <a:pPr>
              <a:defRPr sz="1000" i="1">
                <a:solidFill>
                  <a:srgbClr val="64748B"/>
                </a:solidFill>
              </a:defRPr>
            </a:pPr>
            <a:r>
              <a:t>The Field Medic</a:t>
            </a:r>
          </a:p>
          <a:p>
            <a:pPr>
              <a:spcAft>
                <a:spcPts val="800"/>
              </a:spcAft>
              <a:defRPr sz="850" b="1">
                <a:solidFill>
                  <a:srgbClr val="2563EB"/>
                </a:solidFill>
              </a:defRPr>
            </a:pPr>
            <a:r>
              <a:t>When Telemetry is Impaired (0.40 ≤ Q &lt; 0.80)</a:t>
            </a:r>
          </a:p>
          <a:p>
            <a:pPr>
              <a:spcAft>
                <a:spcPts val="200"/>
              </a:spcAft>
              <a:defRPr sz="900">
                <a:solidFill>
                  <a:srgbClr val="0F172A"/>
                </a:solidFill>
              </a:defRPr>
            </a:pPr>
            <a:r>
              <a:t>• Model: Reduced Random Forest.</a:t>
            </a:r>
          </a:p>
          <a:p>
            <a:pPr>
              <a:spcAft>
                <a:spcPts val="200"/>
              </a:spcAft>
              <a:defRPr sz="900">
                <a:solidFill>
                  <a:srgbClr val="0F172A"/>
                </a:solidFill>
              </a:defRPr>
            </a:pPr>
          </a:p>
          <a:p>
            <a:pPr>
              <a:spcAft>
                <a:spcPts val="200"/>
              </a:spcAft>
              <a:defRPr sz="900">
                <a:solidFill>
                  <a:srgbClr val="0F172A"/>
                </a:solidFill>
              </a:defRPr>
            </a:pPr>
            <a:r>
              <a:t>• Feature Subspace: 16 Immutable L3/L4 Features:</a:t>
            </a:r>
          </a:p>
          <a:p>
            <a:pPr>
              <a:spcAft>
                <a:spcPts val="200"/>
              </a:spcAft>
              <a:defRPr sz="900">
                <a:solidFill>
                  <a:srgbClr val="0F172A"/>
                </a:solidFill>
              </a:defRPr>
            </a:pPr>
            <a:r>
              <a:t>  - Flow duration</a:t>
            </a:r>
          </a:p>
          <a:p>
            <a:pPr>
              <a:spcAft>
                <a:spcPts val="200"/>
              </a:spcAft>
              <a:defRPr sz="900">
                <a:solidFill>
                  <a:srgbClr val="0F172A"/>
                </a:solidFill>
              </a:defRPr>
            </a:pPr>
            <a:r>
              <a:t>  - Total forward packets &amp; byte rates</a:t>
            </a:r>
          </a:p>
          <a:p>
            <a:pPr>
              <a:spcAft>
                <a:spcPts val="200"/>
              </a:spcAft>
              <a:defRPr sz="900">
                <a:solidFill>
                  <a:srgbClr val="0F172A"/>
                </a:solidFill>
              </a:defRPr>
            </a:pPr>
            <a:r>
              <a:t>  - Core TCP header flags (SYN, FIN, RST, PSH).</a:t>
            </a:r>
          </a:p>
          <a:p>
            <a:pPr>
              <a:spcAft>
                <a:spcPts val="200"/>
              </a:spcAft>
              <a:defRPr sz="900">
                <a:solidFill>
                  <a:srgbClr val="0F172A"/>
                </a:solidFill>
              </a:defRPr>
            </a:pPr>
          </a:p>
          <a:p>
            <a:pPr>
              <a:spcAft>
                <a:spcPts val="200"/>
              </a:spcAft>
              <a:defRPr sz="900">
                <a:solidFill>
                  <a:srgbClr val="0F172A"/>
                </a:solidFill>
              </a:defRPr>
            </a:pPr>
            <a:r>
              <a:t>• Specialty: Immune to asymmetric routing and packet sampling; operates cleanly without backward metrics.</a:t>
            </a:r>
          </a:p>
          <a:p>
            <a:pPr>
              <a:spcAft>
                <a:spcPts val="200"/>
              </a:spcAft>
              <a:defRPr sz="900">
                <a:solidFill>
                  <a:srgbClr val="0F172A"/>
                </a:solidFill>
              </a:defRPr>
            </a:pPr>
          </a:p>
          <a:p>
            <a:pPr>
              <a:spcAft>
                <a:spcPts val="200"/>
              </a:spcAft>
              <a:defRPr sz="900">
                <a:solidFill>
                  <a:srgbClr val="0F172A"/>
                </a:solidFill>
              </a:defRPr>
            </a:pPr>
            <a:r>
              <a:t>• Latency: ~0.04 ms / flow (3× faster).</a:t>
            </a:r>
          </a:p>
        </p:txBody>
      </p:sp>
      <p:sp>
        <p:nvSpPr>
          <p:cNvPr id="8" name="Rounded Rectangle 7"/>
          <p:cNvSpPr/>
          <p:nvPr/>
        </p:nvSpPr>
        <p:spPr>
          <a:xfrm>
            <a:off x="7955280" y="1371600"/>
            <a:ext cx="34747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554480"/>
            <a:ext cx="3108960" cy="4572000"/>
          </a:xfrm>
          <a:prstGeom prst="rect">
            <a:avLst/>
          </a:prstGeom>
          <a:noFill/>
        </p:spPr>
        <p:txBody>
          <a:bodyPr wrap="square">
            <a:spAutoFit/>
          </a:bodyPr>
          <a:lstStyle/>
          <a:p>
            <a:pPr>
              <a:defRPr sz="1300" b="1">
                <a:solidFill>
                  <a:srgbClr val="DC2626"/>
                </a:solidFill>
              </a:defRPr>
            </a:pPr>
            <a:r>
              <a:t>MODE 3: FALLBACK RULES</a:t>
            </a:r>
          </a:p>
          <a:p>
            <a:pPr>
              <a:defRPr sz="1000" i="1">
                <a:solidFill>
                  <a:srgbClr val="64748B"/>
                </a:solidFill>
              </a:defRPr>
            </a:pPr>
            <a:r>
              <a:t>The Fire Alarm / Circuit Breaker</a:t>
            </a:r>
          </a:p>
          <a:p>
            <a:pPr>
              <a:spcAft>
                <a:spcPts val="800"/>
              </a:spcAft>
              <a:defRPr sz="850" b="1">
                <a:solidFill>
                  <a:srgbClr val="2563EB"/>
                </a:solidFill>
              </a:defRPr>
            </a:pPr>
            <a:r>
              <a:t>When Sensor is Overloaded (Q &lt; 0.40)</a:t>
            </a:r>
          </a:p>
          <a:p>
            <a:pPr>
              <a:spcAft>
                <a:spcPts val="200"/>
              </a:spcAft>
              <a:defRPr sz="900">
                <a:solidFill>
                  <a:srgbClr val="0F172A"/>
                </a:solidFill>
              </a:defRPr>
            </a:pPr>
            <a:r>
              <a:t>• Model: Deterministic Algorithmic Heuristic.</a:t>
            </a:r>
          </a:p>
          <a:p>
            <a:pPr>
              <a:spcAft>
                <a:spcPts val="200"/>
              </a:spcAft>
              <a:defRPr sz="900">
                <a:solidFill>
                  <a:srgbClr val="0F172A"/>
                </a:solidFill>
              </a:defRPr>
            </a:pPr>
          </a:p>
          <a:p>
            <a:pPr>
              <a:spcAft>
                <a:spcPts val="200"/>
              </a:spcAft>
              <a:defRPr sz="900">
                <a:solidFill>
                  <a:srgbClr val="0F172A"/>
                </a:solidFill>
              </a:defRPr>
            </a:pPr>
            <a:r>
              <a:t>• Feature Subspace: Volumetric Invariants:</a:t>
            </a:r>
          </a:p>
          <a:p>
            <a:pPr>
              <a:spcAft>
                <a:spcPts val="200"/>
              </a:spcAft>
              <a:defRPr sz="900">
                <a:solidFill>
                  <a:srgbClr val="0F172A"/>
                </a:solidFill>
              </a:defRPr>
            </a:pPr>
            <a:r>
              <a:t>  - Packets/second, Bytes/second</a:t>
            </a:r>
          </a:p>
          <a:p>
            <a:pPr>
              <a:spcAft>
                <a:spcPts val="200"/>
              </a:spcAft>
              <a:defRPr sz="900">
                <a:solidFill>
                  <a:srgbClr val="0F172A"/>
                </a:solidFill>
              </a:defRPr>
            </a:pPr>
            <a:r>
              <a:t>  - SYN / ACK pulse ratio</a:t>
            </a:r>
          </a:p>
          <a:p>
            <a:pPr>
              <a:spcAft>
                <a:spcPts val="200"/>
              </a:spcAft>
              <a:defRPr sz="900">
                <a:solidFill>
                  <a:srgbClr val="0F172A"/>
                </a:solidFill>
              </a:defRPr>
            </a:pPr>
            <a:r>
              <a:t>  - Fan-out port contact counts.</a:t>
            </a:r>
          </a:p>
          <a:p>
            <a:pPr>
              <a:spcAft>
                <a:spcPts val="200"/>
              </a:spcAft>
              <a:defRPr sz="900">
                <a:solidFill>
                  <a:srgbClr val="0F172A"/>
                </a:solidFill>
              </a:defRPr>
            </a:pPr>
          </a:p>
          <a:p>
            <a:pPr>
              <a:spcAft>
                <a:spcPts val="200"/>
              </a:spcAft>
              <a:defRPr sz="900">
                <a:solidFill>
                  <a:srgbClr val="0F172A"/>
                </a:solidFill>
              </a:defRPr>
            </a:pPr>
            <a:r>
              <a:t>• Specialty: Stops volumetric DDoS, brute force, and port scans during catastrophic sensor crashes.</a:t>
            </a:r>
          </a:p>
          <a:p>
            <a:pPr>
              <a:spcAft>
                <a:spcPts val="200"/>
              </a:spcAft>
              <a:defRPr sz="900">
                <a:solidFill>
                  <a:srgbClr val="0F172A"/>
                </a:solidFill>
              </a:defRPr>
            </a:pPr>
          </a:p>
          <a:p>
            <a:pPr>
              <a:spcAft>
                <a:spcPts val="200"/>
              </a:spcAft>
              <a:defRPr sz="900">
                <a:solidFill>
                  <a:srgbClr val="0F172A"/>
                </a:solidFill>
              </a:defRPr>
            </a:pPr>
            <a:r>
              <a:t>• Latency: &lt;0.005 ms / flow (25× faster).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DEEP DIVE</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Why Mode 3 (Fallback Engine) is the Secret Weapon</a:t>
            </a:r>
          </a:p>
        </p:txBody>
      </p:sp>
      <p:sp>
        <p:nvSpPr>
          <p:cNvPr id="4" name="Rounded Rectangle 3"/>
          <p:cNvSpPr/>
          <p:nvPr/>
        </p:nvSpPr>
        <p:spPr>
          <a:xfrm>
            <a:off x="731520" y="1371600"/>
            <a:ext cx="5212080" cy="4937760"/>
          </a:xfrm>
          <a:prstGeom prst="roundRect">
            <a:avLst/>
          </a:prstGeom>
          <a:solidFill>
            <a:srgbClr val="FEF2F2"/>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754880" cy="4572000"/>
          </a:xfrm>
          <a:prstGeom prst="rect">
            <a:avLst/>
          </a:prstGeom>
          <a:noFill/>
        </p:spPr>
        <p:txBody>
          <a:bodyPr wrap="square">
            <a:spAutoFit/>
          </a:bodyPr>
          <a:lstStyle/>
          <a:p>
            <a:pPr>
              <a:spcAft>
                <a:spcPts val="800"/>
              </a:spcAft>
              <a:defRPr sz="1200" b="1">
                <a:solidFill>
                  <a:srgbClr val="DC2626"/>
                </a:solidFill>
              </a:defRPr>
            </a:pPr>
            <a:r>
              <a:t>WHY MACHINE LEARNING IS UNUSABLE HERE</a:t>
            </a:r>
          </a:p>
          <a:p>
            <a:pPr>
              <a:defRPr sz="950">
                <a:solidFill>
                  <a:srgbClr val="0F172A"/>
                </a:solidFill>
              </a:defRPr>
            </a:pPr>
            <a:r>
              <a:t>1. Missing Features Cause Infinite/NaN Crashes:</a:t>
            </a:r>
          </a:p>
          <a:p>
            <a:pPr>
              <a:defRPr sz="950">
                <a:solidFill>
                  <a:srgbClr val="0F172A"/>
                </a:solidFill>
              </a:defRPr>
            </a:pPr>
            <a:r>
              <a:t>   ML models expect 78 floating-point numbers. When the sensor fails, feeding missing inputs yields garbage predictions.</a:t>
            </a:r>
          </a:p>
          <a:p>
            <a:pPr>
              <a:defRPr sz="950">
                <a:solidFill>
                  <a:srgbClr val="0F172A"/>
                </a:solidFill>
              </a:defRPr>
            </a:pPr>
          </a:p>
          <a:p>
            <a:pPr>
              <a:defRPr sz="950">
                <a:solidFill>
                  <a:srgbClr val="0F172A"/>
                </a:solidFill>
              </a:defRPr>
            </a:pPr>
            <a:r>
              <a:t>2. ML Adds CPU Overhead When Machine is Dying:</a:t>
            </a:r>
          </a:p>
          <a:p>
            <a:pPr>
              <a:defRPr sz="950">
                <a:solidFill>
                  <a:srgbClr val="0F172A"/>
                </a:solidFill>
              </a:defRPr>
            </a:pPr>
            <a:r>
              <a:t>   Traversing 100 decision trees or calculating matrix math consumes CPU cores that the sensor desperately needs just to stay alive.</a:t>
            </a:r>
          </a:p>
          <a:p>
            <a:pPr>
              <a:defRPr sz="950">
                <a:solidFill>
                  <a:srgbClr val="0F172A"/>
                </a:solidFill>
              </a:defRPr>
            </a:pPr>
          </a:p>
          <a:p>
            <a:pPr>
              <a:defRPr sz="950">
                <a:solidFill>
                  <a:srgbClr val="0F172A"/>
                </a:solidFill>
              </a:defRPr>
            </a:pPr>
            <a:r>
              <a:t>3. Real-Time Imputation is a Line-Rate Bottleneck:</a:t>
            </a:r>
          </a:p>
          <a:p>
            <a:pPr>
              <a:defRPr sz="950">
                <a:solidFill>
                  <a:srgbClr val="0F172A"/>
                </a:solidFill>
              </a:defRPr>
            </a:pPr>
            <a:r>
              <a:t>   Running KNN or MICE to 'guess' missing numbers adds 25ms of latency per flow. At 10Gbps, packets back up and crash the router!</a:t>
            </a:r>
          </a:p>
          <a:p>
            <a:pPr>
              <a:defRPr sz="950">
                <a:solidFill>
                  <a:srgbClr val="0F172A"/>
                </a:solidFill>
              </a:defRPr>
            </a:pPr>
          </a:p>
          <a:p>
            <a:pPr>
              <a:defRPr sz="950">
                <a:solidFill>
                  <a:srgbClr val="0F172A"/>
                </a:solidFill>
              </a:defRPr>
            </a:pPr>
            <a:r>
              <a:t>4. The Solution: A Mechanical Tripwire:</a:t>
            </a:r>
          </a:p>
          <a:p>
            <a:pPr>
              <a:defRPr sz="950">
                <a:solidFill>
                  <a:srgbClr val="0F172A"/>
                </a:solidFill>
              </a:defRPr>
            </a:pPr>
            <a:r>
              <a:t>   Just like a circuit breaker in your home trips without needing software or AI, Mode 3 relies on deterministic physics!</a:t>
            </a:r>
          </a:p>
        </p:txBody>
      </p:sp>
      <p:sp>
        <p:nvSpPr>
          <p:cNvPr id="6" name="Rounded Rectangle 5"/>
          <p:cNvSpPr/>
          <p:nvPr/>
        </p:nvSpPr>
        <p:spPr>
          <a:xfrm>
            <a:off x="6217920" y="1371600"/>
            <a:ext cx="5212080" cy="49377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754880" cy="4572000"/>
          </a:xfrm>
          <a:prstGeom prst="rect">
            <a:avLst/>
          </a:prstGeom>
          <a:noFill/>
        </p:spPr>
        <p:txBody>
          <a:bodyPr wrap="square">
            <a:spAutoFit/>
          </a:bodyPr>
          <a:lstStyle/>
          <a:p>
            <a:pPr>
              <a:spcAft>
                <a:spcPts val="800"/>
              </a:spcAft>
              <a:defRPr sz="1200" b="1">
                <a:solidFill>
                  <a:srgbClr val="2563EB"/>
                </a:solidFill>
              </a:defRPr>
            </a:pPr>
            <a:r>
              <a:t>THE 3 DETERMINISTIC RULES INSIDE MODE 3</a:t>
            </a:r>
          </a:p>
          <a:p>
            <a:pPr>
              <a:defRPr sz="900" b="1">
                <a:solidFill>
                  <a:srgbClr val="2563EB"/>
                </a:solidFill>
              </a:defRPr>
            </a:pPr>
            <a:r>
              <a:t>RULE A: Volumetric Flood (DDoS Detection)</a:t>
            </a:r>
          </a:p>
          <a:p>
            <a:pPr>
              <a:defRPr sz="900">
                <a:solidFill>
                  <a:srgbClr val="0F172A"/>
                </a:solidFill>
              </a:defRPr>
            </a:pPr>
            <a:r>
              <a:t>if (packet_rate &gt; 50,000 pkts/sec) or (byte_rate &gt; 50 MB/sec):</a:t>
            </a:r>
          </a:p>
          <a:p>
            <a:pPr>
              <a:defRPr sz="900">
                <a:solidFill>
                  <a:srgbClr val="0F172A"/>
                </a:solidFill>
              </a:defRPr>
            </a:pPr>
            <a:r>
              <a:t>    trigger_action(HIGH_SEVERITY, 'Volumetric DDoS', BLOCK_IP)</a:t>
            </a:r>
          </a:p>
          <a:p>
            <a:pPr>
              <a:defRPr sz="900">
                <a:solidFill>
                  <a:srgbClr val="0F172A"/>
                </a:solidFill>
              </a:defRPr>
            </a:pPr>
          </a:p>
          <a:p>
            <a:pPr>
              <a:defRPr sz="900" b="1">
                <a:solidFill>
                  <a:srgbClr val="2563EB"/>
                </a:solidFill>
              </a:defRPr>
            </a:pPr>
            <a:r>
              <a:t>RULE B: SYN / ACK Asymmetry (SYN Flood Detection)</a:t>
            </a:r>
          </a:p>
          <a:p>
            <a:pPr>
              <a:defRPr sz="900">
                <a:solidFill>
                  <a:srgbClr val="0F172A"/>
                </a:solidFill>
              </a:defRPr>
            </a:pPr>
            <a:r>
              <a:t>if (syn_count &gt; 1000) and (syn_count / (ack_count + 1) &gt; 10.0):</a:t>
            </a:r>
          </a:p>
          <a:p>
            <a:pPr>
              <a:defRPr sz="900">
                <a:solidFill>
                  <a:srgbClr val="0F172A"/>
                </a:solidFill>
              </a:defRPr>
            </a:pPr>
            <a:r>
              <a:t>    trigger_action(HIGH_SEVERITY, 'TCP SYN Flood', RATE_LIMIT_DROP)</a:t>
            </a:r>
          </a:p>
          <a:p>
            <a:pPr>
              <a:defRPr sz="900">
                <a:solidFill>
                  <a:srgbClr val="0F172A"/>
                </a:solidFill>
              </a:defRPr>
            </a:pPr>
          </a:p>
          <a:p>
            <a:pPr>
              <a:defRPr sz="900" b="1">
                <a:solidFill>
                  <a:srgbClr val="2563EB"/>
                </a:solidFill>
              </a:defRPr>
            </a:pPr>
            <a:r>
              <a:t>RULE C: Port Sweep Fan-Out (Port Scan Detection)</a:t>
            </a:r>
          </a:p>
          <a:p>
            <a:pPr>
              <a:defRPr sz="900">
                <a:solidFill>
                  <a:srgbClr val="0F172A"/>
                </a:solidFill>
              </a:defRPr>
            </a:pPr>
            <a:r>
              <a:t>if (distinct_dst_ports_contacted &gt; 50 in 1 second):</a:t>
            </a:r>
          </a:p>
          <a:p>
            <a:pPr>
              <a:defRPr sz="900">
                <a:solidFill>
                  <a:srgbClr val="0F172A"/>
                </a:solidFill>
              </a:defRPr>
            </a:pPr>
            <a:r>
              <a:t>    trigger_action(MEDIUM_SEVERITY, 'Aggressive Port Scan', QUARANTINE)</a:t>
            </a:r>
          </a:p>
          <a:p>
            <a:pPr>
              <a:defRPr sz="900">
                <a:solidFill>
                  <a:srgbClr val="0F172A"/>
                </a:solidFill>
              </a:defRPr>
            </a:pPr>
          </a:p>
          <a:p>
            <a:pPr>
              <a:defRPr sz="900" b="1">
                <a:solidFill>
                  <a:srgbClr val="16A34A"/>
                </a:solidFill>
              </a:defRPr>
            </a:pPr>
            <a:r>
              <a:t>BENCHMARK IMPACT: Executes in &lt; 5 microseconds!</a:t>
            </a:r>
          </a:p>
          <a:p>
            <a:pPr>
              <a:defRPr sz="900">
                <a:solidFill>
                  <a:srgbClr val="0F172A"/>
                </a:solidFill>
              </a:defRPr>
            </a:pPr>
            <a:r>
              <a:t>Zero memory allocation. Protects network while sensor recovers.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STABILITY MECHANISM</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Dynamic Arbiter &amp; Hysteresis: Eliminating 'Mode Flapping'</a:t>
            </a:r>
          </a:p>
        </p:txBody>
      </p:sp>
      <p:sp>
        <p:nvSpPr>
          <p:cNvPr id="4" name="Rounded Rectangle 3"/>
          <p:cNvSpPr/>
          <p:nvPr/>
        </p:nvSpPr>
        <p:spPr>
          <a:xfrm>
            <a:off x="7315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4754880" cy="4572000"/>
          </a:xfrm>
          <a:prstGeom prst="rect">
            <a:avLst/>
          </a:prstGeom>
          <a:noFill/>
        </p:spPr>
        <p:txBody>
          <a:bodyPr wrap="square">
            <a:spAutoFit/>
          </a:bodyPr>
          <a:lstStyle/>
          <a:p>
            <a:pPr>
              <a:spcAft>
                <a:spcPts val="800"/>
              </a:spcAft>
              <a:defRPr sz="1200" b="1">
                <a:solidFill>
                  <a:srgbClr val="EA580C"/>
                </a:solidFill>
              </a:defRPr>
            </a:pPr>
            <a:r>
              <a:t>THE PROBLEM: BOUNDARY OSCILLATION ('FLAPPING')</a:t>
            </a:r>
          </a:p>
          <a:p>
            <a:pPr>
              <a:defRPr sz="950">
                <a:solidFill>
                  <a:srgbClr val="0F172A"/>
                </a:solidFill>
              </a:defRPr>
            </a:pPr>
            <a:r>
              <a:t>• The Hazard: Suppose the switching threshold between Mode 1 and Mode 2 is exactly Q = 0.80.</a:t>
            </a:r>
          </a:p>
          <a:p>
            <a:pPr>
              <a:defRPr sz="950">
                <a:solidFill>
                  <a:srgbClr val="0F172A"/>
                </a:solidFill>
              </a:defRPr>
            </a:pPr>
          </a:p>
          <a:p>
            <a:pPr>
              <a:defRPr sz="950">
                <a:solidFill>
                  <a:srgbClr val="0F172A"/>
                </a:solidFill>
              </a:defRPr>
            </a:pPr>
            <a:r>
              <a:t>• Network Jitter: Telemetry quality naturally hovers around boundaries: 0.801 → 0.799 → 0.802 → 0.798 every millisecond.</a:t>
            </a:r>
          </a:p>
          <a:p>
            <a:pPr>
              <a:defRPr sz="950">
                <a:solidFill>
                  <a:srgbClr val="0F172A"/>
                </a:solidFill>
              </a:defRPr>
            </a:pPr>
          </a:p>
          <a:p>
            <a:pPr>
              <a:defRPr sz="950">
                <a:solidFill>
                  <a:srgbClr val="0F172A"/>
                </a:solidFill>
              </a:defRPr>
            </a:pPr>
            <a:r>
              <a:t>• Without Hysteresis: The system switches models 500 times per second! This induces pipeline stalls, cache churn, and CPU thrashing.</a:t>
            </a:r>
          </a:p>
          <a:p>
            <a:pPr>
              <a:defRPr sz="950">
                <a:solidFill>
                  <a:srgbClr val="0F172A"/>
                </a:solidFill>
              </a:defRPr>
            </a:pPr>
          </a:p>
          <a:p>
            <a:pPr>
              <a:defRPr sz="950">
                <a:solidFill>
                  <a:srgbClr val="0F172A"/>
                </a:solidFill>
              </a:defRPr>
            </a:pPr>
            <a:r>
              <a:t>• Everyday Analogy: A home air conditioner. If set to 24°C, you don't want it turning ON at 24.01°C and OFF at 23.99°C every 3 seconds. It needs a ±1°C buffer to preserve the compressor motor!</a:t>
            </a:r>
          </a:p>
        </p:txBody>
      </p:sp>
      <p:sp>
        <p:nvSpPr>
          <p:cNvPr id="6" name="Rounded Rectangle 5"/>
          <p:cNvSpPr/>
          <p:nvPr/>
        </p:nvSpPr>
        <p:spPr>
          <a:xfrm>
            <a:off x="6217920" y="1371600"/>
            <a:ext cx="5212080" cy="4937760"/>
          </a:xfrm>
          <a:prstGeom prst="roundRect">
            <a:avLst/>
          </a:prstGeom>
          <a:solidFill>
            <a:srgbClr val="F0FDF4"/>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4754880" cy="4572000"/>
          </a:xfrm>
          <a:prstGeom prst="rect">
            <a:avLst/>
          </a:prstGeom>
          <a:noFill/>
        </p:spPr>
        <p:txBody>
          <a:bodyPr wrap="square">
            <a:spAutoFit/>
          </a:bodyPr>
          <a:lstStyle/>
          <a:p>
            <a:pPr>
              <a:spcAft>
                <a:spcPts val="800"/>
              </a:spcAft>
              <a:defRPr sz="1200" b="1">
                <a:solidFill>
                  <a:srgbClr val="16A34A"/>
                </a:solidFill>
              </a:defRPr>
            </a:pPr>
            <a:r>
              <a:t>THE SOLUTION: HYSTERESIS BUFFER (δ = 0.05)</a:t>
            </a:r>
          </a:p>
          <a:p>
            <a:pPr>
              <a:defRPr sz="950">
                <a:solidFill>
                  <a:srgbClr val="0F172A"/>
                </a:solidFill>
              </a:defRPr>
            </a:pPr>
            <a:r>
              <a:t>1. Dynamic Arbitration State Machine:</a:t>
            </a:r>
          </a:p>
          <a:p>
            <a:pPr>
              <a:defRPr sz="950">
                <a:solidFill>
                  <a:srgbClr val="0F172A"/>
                </a:solidFill>
              </a:defRPr>
            </a:pPr>
            <a:r>
              <a:t>   Mode(t) = Φ( Q(t), Mode(t-1), δ )</a:t>
            </a:r>
          </a:p>
          <a:p>
            <a:pPr>
              <a:defRPr sz="950">
                <a:solidFill>
                  <a:srgbClr val="0F172A"/>
                </a:solidFill>
              </a:defRPr>
            </a:pPr>
          </a:p>
          <a:p>
            <a:pPr>
              <a:defRPr sz="950">
                <a:solidFill>
                  <a:srgbClr val="0F172A"/>
                </a:solidFill>
              </a:defRPr>
            </a:pPr>
            <a:r>
              <a:t>2. Downward Transition (Tolerates Dips):</a:t>
            </a:r>
          </a:p>
          <a:p>
            <a:pPr>
              <a:defRPr sz="950">
                <a:solidFill>
                  <a:srgbClr val="0F172A"/>
                </a:solidFill>
              </a:defRPr>
            </a:pPr>
            <a:r>
              <a:t>   If currently in Mode 1, do NOT drop to Mode 2 unless Q falls below 0.75 (0.80 - 0.05).</a:t>
            </a:r>
          </a:p>
          <a:p>
            <a:pPr>
              <a:defRPr sz="950">
                <a:solidFill>
                  <a:srgbClr val="0F172A"/>
                </a:solidFill>
              </a:defRPr>
            </a:pPr>
          </a:p>
          <a:p>
            <a:pPr>
              <a:defRPr sz="950">
                <a:solidFill>
                  <a:srgbClr val="0F172A"/>
                </a:solidFill>
              </a:defRPr>
            </a:pPr>
            <a:r>
              <a:t>3. Upward Transition (Requires Proof):</a:t>
            </a:r>
          </a:p>
          <a:p>
            <a:pPr>
              <a:defRPr sz="950">
                <a:solidFill>
                  <a:srgbClr val="0F172A"/>
                </a:solidFill>
              </a:defRPr>
            </a:pPr>
            <a:r>
              <a:t>   If currently in Mode 2, do NOT promote back to Mode 1 unless Q reliably recovers above 0.80.</a:t>
            </a:r>
          </a:p>
          <a:p>
            <a:pPr>
              <a:defRPr sz="950">
                <a:solidFill>
                  <a:srgbClr val="0F172A"/>
                </a:solidFill>
              </a:defRPr>
            </a:pPr>
          </a:p>
          <a:p>
            <a:pPr>
              <a:defRPr sz="950">
                <a:solidFill>
                  <a:srgbClr val="0F172A"/>
                </a:solidFill>
              </a:defRPr>
            </a:pPr>
            <a:r>
              <a:t>4. Architectural Result:</a:t>
            </a:r>
          </a:p>
          <a:p>
            <a:pPr>
              <a:defRPr sz="950">
                <a:solidFill>
                  <a:srgbClr val="0F172A"/>
                </a:solidFill>
              </a:defRPr>
            </a:pPr>
            <a:r>
              <a:t>   - Zero Mode Flapping under noisy telemetry.</a:t>
            </a:r>
          </a:p>
          <a:p>
            <a:pPr>
              <a:defRPr sz="950">
                <a:solidFill>
                  <a:srgbClr val="0F172A"/>
                </a:solidFill>
              </a:defRPr>
            </a:pPr>
            <a:r>
              <a:t>   - Warm Memory Retention: All models stay loaded.</a:t>
            </a:r>
          </a:p>
          <a:p>
            <a:pPr>
              <a:defRPr sz="950">
                <a:solidFill>
                  <a:srgbClr val="0F172A"/>
                </a:solidFill>
              </a:defRPr>
            </a:pPr>
            <a:r>
              <a:t>   - Transition Overhead &lt; 1 microsecond (pointer switch).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EXPERIMENTAL METHODOLOGY</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Benchmark Setup &amp; Comparative Research Baselines</a:t>
            </a:r>
          </a:p>
        </p:txBody>
      </p:sp>
      <p:sp>
        <p:nvSpPr>
          <p:cNvPr id="4" name="Rounded Rectangle 3"/>
          <p:cNvSpPr/>
          <p:nvPr/>
        </p:nvSpPr>
        <p:spPr>
          <a:xfrm>
            <a:off x="731520" y="1371600"/>
            <a:ext cx="25603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2286000" cy="4572000"/>
          </a:xfrm>
          <a:prstGeom prst="rect">
            <a:avLst/>
          </a:prstGeom>
          <a:noFill/>
        </p:spPr>
        <p:txBody>
          <a:bodyPr wrap="square">
            <a:spAutoFit/>
          </a:bodyPr>
          <a:lstStyle/>
          <a:p>
            <a:pPr>
              <a:defRPr sz="1100" b="1">
                <a:solidFill>
                  <a:srgbClr val="DC2626"/>
                </a:solidFill>
              </a:defRPr>
            </a:pPr>
            <a:r>
              <a:t>BASELINE 1: STATIC FULL MODEL</a:t>
            </a:r>
          </a:p>
          <a:p>
            <a:pPr>
              <a:spcAft>
                <a:spcPts val="800"/>
              </a:spcAft>
              <a:defRPr sz="900" i="1">
                <a:solidFill>
                  <a:srgbClr val="64748B"/>
                </a:solidFill>
              </a:defRPr>
            </a:pPr>
            <a:r>
              <a:t>The Standard Approach in 90% of Papers</a:t>
            </a:r>
          </a:p>
          <a:p>
            <a:pPr>
              <a:spcAft>
                <a:spcPts val="200"/>
              </a:spcAft>
              <a:defRPr sz="880">
                <a:solidFill>
                  <a:srgbClr val="0F172A"/>
                </a:solidFill>
              </a:defRPr>
            </a:pPr>
            <a:r>
              <a:t>• Standard Random Forest trained on pristine 78 features.</a:t>
            </a:r>
          </a:p>
          <a:p>
            <a:pPr>
              <a:spcAft>
                <a:spcPts val="200"/>
              </a:spcAft>
              <a:defRPr sz="880">
                <a:solidFill>
                  <a:srgbClr val="0F172A"/>
                </a:solidFill>
              </a:defRPr>
            </a:pPr>
            <a:r>
              <a:t>• Assumes telemetry is always perfect.</a:t>
            </a:r>
          </a:p>
          <a:p>
            <a:pPr>
              <a:spcAft>
                <a:spcPts val="200"/>
              </a:spcAft>
              <a:defRPr sz="880">
                <a:solidFill>
                  <a:srgbClr val="0F172A"/>
                </a:solidFill>
              </a:defRPr>
            </a:pPr>
            <a:r>
              <a:t>• Fails catastrophically under L2 &amp; L3 degradation (F1 drops to ~0.30).</a:t>
            </a:r>
          </a:p>
        </p:txBody>
      </p:sp>
      <p:sp>
        <p:nvSpPr>
          <p:cNvPr id="6" name="Rounded Rectangle 5"/>
          <p:cNvSpPr/>
          <p:nvPr/>
        </p:nvSpPr>
        <p:spPr>
          <a:xfrm>
            <a:off x="3429000" y="1371600"/>
            <a:ext cx="25603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554480"/>
            <a:ext cx="2286000" cy="4572000"/>
          </a:xfrm>
          <a:prstGeom prst="rect">
            <a:avLst/>
          </a:prstGeom>
          <a:noFill/>
        </p:spPr>
        <p:txBody>
          <a:bodyPr wrap="square">
            <a:spAutoFit/>
          </a:bodyPr>
          <a:lstStyle/>
          <a:p>
            <a:pPr>
              <a:defRPr sz="1100" b="1">
                <a:solidFill>
                  <a:srgbClr val="D97706"/>
                </a:solidFill>
              </a:defRPr>
            </a:pPr>
            <a:r>
              <a:t>BASELINE 2: IMPUTATION + FULL MODEL</a:t>
            </a:r>
          </a:p>
          <a:p>
            <a:pPr>
              <a:spcAft>
                <a:spcPts val="800"/>
              </a:spcAft>
              <a:defRPr sz="900" i="1">
                <a:solidFill>
                  <a:srgbClr val="64748B"/>
                </a:solidFill>
              </a:defRPr>
            </a:pPr>
            <a:r>
              <a:t>The Traditional Machine Learning Approach</a:t>
            </a:r>
          </a:p>
          <a:p>
            <a:pPr>
              <a:spcAft>
                <a:spcPts val="200"/>
              </a:spcAft>
              <a:defRPr sz="880">
                <a:solidFill>
                  <a:srgbClr val="0F172A"/>
                </a:solidFill>
              </a:defRPr>
            </a:pPr>
            <a:r>
              <a:t>• Uses KNN / MICE to 'guess' missing numbers prior to ML.</a:t>
            </a:r>
          </a:p>
          <a:p>
            <a:pPr>
              <a:spcAft>
                <a:spcPts val="200"/>
              </a:spcAft>
              <a:defRPr sz="880">
                <a:solidFill>
                  <a:srgbClr val="0F172A"/>
                </a:solidFill>
              </a:defRPr>
            </a:pPr>
            <a:r>
              <a:t>• Incurs intolerable 25ms latency per flow (breaks 10Gbps line rate).</a:t>
            </a:r>
          </a:p>
          <a:p>
            <a:pPr>
              <a:spcAft>
                <a:spcPts val="200"/>
              </a:spcAft>
              <a:defRPr sz="880">
                <a:solidFill>
                  <a:srgbClr val="0F172A"/>
                </a:solidFill>
              </a:defRPr>
            </a:pPr>
            <a:r>
              <a:t>• Hallucinates synthetic artifacts that trigger false alarms.</a:t>
            </a:r>
          </a:p>
        </p:txBody>
      </p:sp>
      <p:sp>
        <p:nvSpPr>
          <p:cNvPr id="8" name="Rounded Rectangle 7"/>
          <p:cNvSpPr/>
          <p:nvPr/>
        </p:nvSpPr>
        <p:spPr>
          <a:xfrm>
            <a:off x="6126480" y="1371600"/>
            <a:ext cx="25603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554480"/>
            <a:ext cx="2286000" cy="4572000"/>
          </a:xfrm>
          <a:prstGeom prst="rect">
            <a:avLst/>
          </a:prstGeom>
          <a:noFill/>
        </p:spPr>
        <p:txBody>
          <a:bodyPr wrap="square">
            <a:spAutoFit/>
          </a:bodyPr>
          <a:lstStyle/>
          <a:p>
            <a:pPr>
              <a:defRPr sz="1100" b="1">
                <a:solidFill>
                  <a:srgbClr val="64748B"/>
                </a:solidFill>
              </a:defRPr>
            </a:pPr>
            <a:r>
              <a:t>BASELINE 3: FEATURE-DROPOUT MODEL</a:t>
            </a:r>
          </a:p>
          <a:p>
            <a:pPr>
              <a:spcAft>
                <a:spcPts val="800"/>
              </a:spcAft>
              <a:defRPr sz="900" i="1">
                <a:solidFill>
                  <a:srgbClr val="64748B"/>
                </a:solidFill>
              </a:defRPr>
            </a:pPr>
            <a:r>
              <a:t>The Single 'Jack of All Trades' Model</a:t>
            </a:r>
          </a:p>
          <a:p>
            <a:pPr>
              <a:spcAft>
                <a:spcPts val="200"/>
              </a:spcAft>
              <a:defRPr sz="880">
                <a:solidFill>
                  <a:srgbClr val="0F172A"/>
                </a:solidFill>
              </a:defRPr>
            </a:pPr>
            <a:r>
              <a:t>• Single model trained with 30% random feature masking.</a:t>
            </a:r>
          </a:p>
          <a:p>
            <a:pPr>
              <a:spcAft>
                <a:spcPts val="200"/>
              </a:spcAft>
              <a:defRPr sz="880">
                <a:solidFill>
                  <a:srgbClr val="0F172A"/>
                </a:solidFill>
              </a:defRPr>
            </a:pPr>
            <a:r>
              <a:t>• Sacrifices peak accuracy on clean traffic (F1 = 0.92 vs 0.98).</a:t>
            </a:r>
          </a:p>
          <a:p>
            <a:pPr>
              <a:spcAft>
                <a:spcPts val="200"/>
              </a:spcAft>
              <a:defRPr sz="880">
                <a:solidFill>
                  <a:srgbClr val="0F172A"/>
                </a:solidFill>
              </a:defRPr>
            </a:pPr>
            <a:r>
              <a:t>• Still collapses when entire coherent modalities (like DPI) vanish.</a:t>
            </a:r>
          </a:p>
        </p:txBody>
      </p:sp>
      <p:sp>
        <p:nvSpPr>
          <p:cNvPr id="10" name="Rounded Rectangle 9"/>
          <p:cNvSpPr/>
          <p:nvPr/>
        </p:nvSpPr>
        <p:spPr>
          <a:xfrm>
            <a:off x="8823960" y="1371600"/>
            <a:ext cx="256032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554480"/>
            <a:ext cx="2286000" cy="4572000"/>
          </a:xfrm>
          <a:prstGeom prst="rect">
            <a:avLst/>
          </a:prstGeom>
          <a:noFill/>
        </p:spPr>
        <p:txBody>
          <a:bodyPr wrap="square">
            <a:spAutoFit/>
          </a:bodyPr>
          <a:lstStyle/>
          <a:p>
            <a:pPr>
              <a:defRPr sz="1100" b="1">
                <a:solidFill>
                  <a:srgbClr val="16A34A"/>
                </a:solidFill>
              </a:defRPr>
            </a:pPr>
            <a:r>
              <a:t>PROPOSED: TIDPS MULTI-MODE</a:t>
            </a:r>
          </a:p>
          <a:p>
            <a:pPr>
              <a:spcAft>
                <a:spcPts val="800"/>
              </a:spcAft>
              <a:defRPr sz="900" i="1">
                <a:solidFill>
                  <a:srgbClr val="64748B"/>
                </a:solidFill>
              </a:defRPr>
            </a:pPr>
            <a:r>
              <a:t>Our Dynamic Telemetry-Aware Architecture</a:t>
            </a:r>
          </a:p>
          <a:p>
            <a:pPr>
              <a:spcAft>
                <a:spcPts val="200"/>
              </a:spcAft>
              <a:defRPr sz="880">
                <a:solidFill>
                  <a:srgbClr val="0F172A"/>
                </a:solidFill>
              </a:defRPr>
            </a:pPr>
            <a:r>
              <a:t>• Continuously tracks Q and routes to prevalidated specialized modes.</a:t>
            </a:r>
          </a:p>
          <a:p>
            <a:pPr>
              <a:spcAft>
                <a:spcPts val="200"/>
              </a:spcAft>
              <a:defRPr sz="880">
                <a:solidFill>
                  <a:srgbClr val="0F172A"/>
                </a:solidFill>
              </a:defRPr>
            </a:pPr>
            <a:r>
              <a:t>• Retains 98.4% F1 on clean data AND &gt;81% F1 under severe L3 outage.</a:t>
            </a:r>
          </a:p>
          <a:p>
            <a:pPr>
              <a:spcAft>
                <a:spcPts val="200"/>
              </a:spcAft>
              <a:defRPr sz="880">
                <a:solidFill>
                  <a:srgbClr val="0F172A"/>
                </a:solidFill>
              </a:defRPr>
            </a:pPr>
            <a:r>
              <a:t>• Maintains sub-millisecond inference (&lt;0.06 ms) with zero imputation.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EVALUATION &amp; RESULTS</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Anticipated Results: F1-Retention &amp; Latency Comparison</a:t>
            </a:r>
          </a:p>
        </p:txBody>
      </p:sp>
      <p:sp>
        <p:nvSpPr>
          <p:cNvPr id="4" name="Rounded Rectangle 3"/>
          <p:cNvSpPr/>
          <p:nvPr/>
        </p:nvSpPr>
        <p:spPr>
          <a:xfrm>
            <a:off x="731520" y="1371600"/>
            <a:ext cx="10698480" cy="2926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32720" cy="2560320"/>
          </a:xfrm>
          <a:prstGeom prst="rect">
            <a:avLst/>
          </a:prstGeom>
          <a:noFill/>
        </p:spPr>
        <p:txBody>
          <a:bodyPr wrap="square">
            <a:spAutoFit/>
          </a:bodyPr>
          <a:lstStyle/>
          <a:p>
            <a:pPr>
              <a:spcAft>
                <a:spcPts val="600"/>
              </a:spcAft>
              <a:defRPr sz="1200" b="1">
                <a:solidFill>
                  <a:srgbClr val="2563EB"/>
                </a:solidFill>
              </a:defRPr>
            </a:pPr>
            <a:r>
              <a:t>COMPARATIVE BENCHMARK TABLE: PERFORMANCE UNDER CONTROLLED DEGRADATION</a:t>
            </a:r>
          </a:p>
        </p:txBody>
      </p:sp>
      <p:graphicFrame>
        <p:nvGraphicFramePr>
          <p:cNvPr id="6" name="Table 5"/>
          <p:cNvGraphicFramePr>
            <a:graphicFrameLocks noGrp="1"/>
          </p:cNvGraphicFramePr>
          <p:nvPr/>
        </p:nvGraphicFramePr>
        <p:xfrm>
          <a:off x="914400" y="2011680"/>
          <a:ext cx="10332720" cy="2103120"/>
        </p:xfrm>
        <a:graphic>
          <a:graphicData uri="http://schemas.openxmlformats.org/drawingml/2006/table">
            <a:tbl>
              <a:tblPr firstRow="1" bandRow="1">
                <a:tableStyleId>{5C22544A-7EE6-4342-B048-85BDC9FD1C3A}</a:tableStyleId>
              </a:tblPr>
              <a:tblGrid>
                <a:gridCol w="1722120"/>
                <a:gridCol w="1722120"/>
                <a:gridCol w="1722120"/>
                <a:gridCol w="1722120"/>
                <a:gridCol w="1722120"/>
                <a:gridCol w="1722120"/>
              </a:tblGrid>
              <a:tr h="420624">
                <a:tc>
                  <a:txBody>
                    <a:bodyPr/>
                    <a:lstStyle/>
                    <a:p>
                      <a:pPr>
                        <a:defRPr sz="1000" b="1">
                          <a:solidFill>
                            <a:srgbClr val="FFFFFF"/>
                          </a:solidFill>
                        </a:defRPr>
                      </a:pPr>
                      <a:r>
                        <a:t>Architecture</a:t>
                      </a:r>
                    </a:p>
                  </a:txBody>
                  <a:tcPr>
                    <a:solidFill>
                      <a:srgbClr val="2563EB"/>
                    </a:solidFill>
                  </a:tcPr>
                </a:tc>
                <a:tc>
                  <a:txBody>
                    <a:bodyPr/>
                    <a:lstStyle/>
                    <a:p>
                      <a:pPr>
                        <a:defRPr sz="1000" b="1">
                          <a:solidFill>
                            <a:srgbClr val="FFFFFF"/>
                          </a:solidFill>
                        </a:defRPr>
                      </a:pPr>
                      <a:r>
                        <a:t>L0: Clean (Q≈1.0)</a:t>
                      </a:r>
                    </a:p>
                  </a:txBody>
                  <a:tcPr>
                    <a:solidFill>
                      <a:srgbClr val="2563EB"/>
                    </a:solidFill>
                  </a:tcPr>
                </a:tc>
                <a:tc>
                  <a:txBody>
                    <a:bodyPr/>
                    <a:lstStyle/>
                    <a:p>
                      <a:pPr>
                        <a:defRPr sz="1000" b="1">
                          <a:solidFill>
                            <a:srgbClr val="FFFFFF"/>
                          </a:solidFill>
                        </a:defRPr>
                      </a:pPr>
                      <a:r>
                        <a:t>L1: Mild (Q≈0.85)</a:t>
                      </a:r>
                    </a:p>
                  </a:txBody>
                  <a:tcPr>
                    <a:solidFill>
                      <a:srgbClr val="2563EB"/>
                    </a:solidFill>
                  </a:tcPr>
                </a:tc>
                <a:tc>
                  <a:txBody>
                    <a:bodyPr/>
                    <a:lstStyle/>
                    <a:p>
                      <a:pPr>
                        <a:defRPr sz="1000" b="1">
                          <a:solidFill>
                            <a:srgbClr val="FFFFFF"/>
                          </a:solidFill>
                        </a:defRPr>
                      </a:pPr>
                      <a:r>
                        <a:t>L2: Moderate (Q≈0.55)</a:t>
                      </a:r>
                    </a:p>
                  </a:txBody>
                  <a:tcPr>
                    <a:solidFill>
                      <a:srgbClr val="2563EB"/>
                    </a:solidFill>
                  </a:tcPr>
                </a:tc>
                <a:tc>
                  <a:txBody>
                    <a:bodyPr/>
                    <a:lstStyle/>
                    <a:p>
                      <a:pPr>
                        <a:defRPr sz="1000" b="1">
                          <a:solidFill>
                            <a:srgbClr val="FFFFFF"/>
                          </a:solidFill>
                        </a:defRPr>
                      </a:pPr>
                      <a:r>
                        <a:t>L3: Severe (Q&lt;0.40)</a:t>
                      </a:r>
                    </a:p>
                  </a:txBody>
                  <a:tcPr>
                    <a:solidFill>
                      <a:srgbClr val="2563EB"/>
                    </a:solidFill>
                  </a:tcPr>
                </a:tc>
                <a:tc>
                  <a:txBody>
                    <a:bodyPr/>
                    <a:lstStyle/>
                    <a:p>
                      <a:pPr>
                        <a:defRPr sz="1000" b="1">
                          <a:solidFill>
                            <a:srgbClr val="FFFFFF"/>
                          </a:solidFill>
                        </a:defRPr>
                      </a:pPr>
                      <a:r>
                        <a:t>Inference Latency</a:t>
                      </a:r>
                    </a:p>
                  </a:txBody>
                  <a:tcPr>
                    <a:solidFill>
                      <a:srgbClr val="2563EB"/>
                    </a:solidFill>
                  </a:tcPr>
                </a:tc>
              </a:tr>
              <a:tr h="420624">
                <a:tc>
                  <a:txBody>
                    <a:bodyPr/>
                    <a:lstStyle/>
                    <a:p>
                      <a:pPr>
                        <a:defRPr sz="950">
                          <a:solidFill>
                            <a:srgbClr val="0F172A"/>
                          </a:solidFill>
                        </a:defRPr>
                      </a:pPr>
                      <a:r>
                        <a:t>1. Static Full Baseline</a:t>
                      </a:r>
                    </a:p>
                  </a:txBody>
                  <a:tcPr/>
                </a:tc>
                <a:tc>
                  <a:txBody>
                    <a:bodyPr/>
                    <a:lstStyle/>
                    <a:p>
                      <a:pPr>
                        <a:defRPr sz="950">
                          <a:solidFill>
                            <a:srgbClr val="0F172A"/>
                          </a:solidFill>
                        </a:defRPr>
                      </a:pPr>
                      <a:r>
                        <a:t>0.984</a:t>
                      </a:r>
                    </a:p>
                  </a:txBody>
                  <a:tcPr/>
                </a:tc>
                <a:tc>
                  <a:txBody>
                    <a:bodyPr/>
                    <a:lstStyle/>
                    <a:p>
                      <a:pPr>
                        <a:defRPr sz="950">
                          <a:solidFill>
                            <a:srgbClr val="0F172A"/>
                          </a:solidFill>
                        </a:defRPr>
                      </a:pPr>
                      <a:r>
                        <a:t>0.891</a:t>
                      </a:r>
                    </a:p>
                  </a:txBody>
                  <a:tcPr/>
                </a:tc>
                <a:tc>
                  <a:txBody>
                    <a:bodyPr/>
                    <a:lstStyle/>
                    <a:p>
                      <a:pPr>
                        <a:defRPr sz="950">
                          <a:solidFill>
                            <a:srgbClr val="0F172A"/>
                          </a:solidFill>
                        </a:defRPr>
                      </a:pPr>
                      <a:r>
                        <a:t>0.542  (COLLAPSE)</a:t>
                      </a:r>
                    </a:p>
                  </a:txBody>
                  <a:tcPr/>
                </a:tc>
                <a:tc>
                  <a:txBody>
                    <a:bodyPr/>
                    <a:lstStyle/>
                    <a:p>
                      <a:pPr>
                        <a:defRPr sz="950">
                          <a:solidFill>
                            <a:srgbClr val="0F172A"/>
                          </a:solidFill>
                        </a:defRPr>
                      </a:pPr>
                      <a:r>
                        <a:t>0.298  (CLIFF)</a:t>
                      </a:r>
                    </a:p>
                  </a:txBody>
                  <a:tcPr/>
                </a:tc>
                <a:tc>
                  <a:txBody>
                    <a:bodyPr/>
                    <a:lstStyle/>
                    <a:p>
                      <a:pPr>
                        <a:defRPr sz="950">
                          <a:solidFill>
                            <a:srgbClr val="0F172A"/>
                          </a:solidFill>
                        </a:defRPr>
                      </a:pPr>
                      <a:r>
                        <a:t>0.12 ms (Standard)</a:t>
                      </a:r>
                    </a:p>
                  </a:txBody>
                  <a:tcPr/>
                </a:tc>
              </a:tr>
              <a:tr h="420624">
                <a:tc>
                  <a:txBody>
                    <a:bodyPr/>
                    <a:lstStyle/>
                    <a:p>
                      <a:pPr>
                        <a:defRPr sz="950">
                          <a:solidFill>
                            <a:srgbClr val="0F172A"/>
                          </a:solidFill>
                        </a:defRPr>
                      </a:pPr>
                      <a:r>
                        <a:t>2. Imputation + Full</a:t>
                      </a:r>
                    </a:p>
                  </a:txBody>
                  <a:tcPr/>
                </a:tc>
                <a:tc>
                  <a:txBody>
                    <a:bodyPr/>
                    <a:lstStyle/>
                    <a:p>
                      <a:pPr>
                        <a:defRPr sz="950">
                          <a:solidFill>
                            <a:srgbClr val="0F172A"/>
                          </a:solidFill>
                        </a:defRPr>
                      </a:pPr>
                      <a:r>
                        <a:t>0.984</a:t>
                      </a:r>
                    </a:p>
                  </a:txBody>
                  <a:tcPr/>
                </a:tc>
                <a:tc>
                  <a:txBody>
                    <a:bodyPr/>
                    <a:lstStyle/>
                    <a:p>
                      <a:pPr>
                        <a:defRPr sz="950">
                          <a:solidFill>
                            <a:srgbClr val="0F172A"/>
                          </a:solidFill>
                        </a:defRPr>
                      </a:pPr>
                      <a:r>
                        <a:t>0.912</a:t>
                      </a:r>
                    </a:p>
                  </a:txBody>
                  <a:tcPr/>
                </a:tc>
                <a:tc>
                  <a:txBody>
                    <a:bodyPr/>
                    <a:lstStyle/>
                    <a:p>
                      <a:pPr>
                        <a:defRPr sz="950">
                          <a:solidFill>
                            <a:srgbClr val="0F172A"/>
                          </a:solidFill>
                        </a:defRPr>
                      </a:pPr>
                      <a:r>
                        <a:t>0.741</a:t>
                      </a:r>
                    </a:p>
                  </a:txBody>
                  <a:tcPr/>
                </a:tc>
                <a:tc>
                  <a:txBody>
                    <a:bodyPr/>
                    <a:lstStyle/>
                    <a:p>
                      <a:pPr>
                        <a:defRPr sz="950">
                          <a:solidFill>
                            <a:srgbClr val="0F172A"/>
                          </a:solidFill>
                        </a:defRPr>
                      </a:pPr>
                      <a:r>
                        <a:t>0.612</a:t>
                      </a:r>
                    </a:p>
                  </a:txBody>
                  <a:tcPr/>
                </a:tc>
                <a:tc>
                  <a:txBody>
                    <a:bodyPr/>
                    <a:lstStyle/>
                    <a:p>
                      <a:pPr>
                        <a:defRPr sz="950">
                          <a:solidFill>
                            <a:srgbClr val="0F172A"/>
                          </a:solidFill>
                        </a:defRPr>
                      </a:pPr>
                      <a:r>
                        <a:t>28.40 ms (230× SLOWER)</a:t>
                      </a:r>
                    </a:p>
                  </a:txBody>
                  <a:tcPr/>
                </a:tc>
              </a:tr>
              <a:tr h="420624">
                <a:tc>
                  <a:txBody>
                    <a:bodyPr/>
                    <a:lstStyle/>
                    <a:p>
                      <a:pPr>
                        <a:defRPr sz="950">
                          <a:solidFill>
                            <a:srgbClr val="0F172A"/>
                          </a:solidFill>
                        </a:defRPr>
                      </a:pPr>
                      <a:r>
                        <a:t>3. Feature-Dropout Model</a:t>
                      </a:r>
                    </a:p>
                  </a:txBody>
                  <a:tcPr/>
                </a:tc>
                <a:tc>
                  <a:txBody>
                    <a:bodyPr/>
                    <a:lstStyle/>
                    <a:p>
                      <a:pPr>
                        <a:defRPr sz="950">
                          <a:solidFill>
                            <a:srgbClr val="0F172A"/>
                          </a:solidFill>
                        </a:defRPr>
                      </a:pPr>
                      <a:r>
                        <a:t>0.923 (Compromised)</a:t>
                      </a:r>
                    </a:p>
                  </a:txBody>
                  <a:tcPr/>
                </a:tc>
                <a:tc>
                  <a:txBody>
                    <a:bodyPr/>
                    <a:lstStyle/>
                    <a:p>
                      <a:pPr>
                        <a:defRPr sz="950">
                          <a:solidFill>
                            <a:srgbClr val="0F172A"/>
                          </a:solidFill>
                        </a:defRPr>
                      </a:pPr>
                      <a:r>
                        <a:t>0.884</a:t>
                      </a:r>
                    </a:p>
                  </a:txBody>
                  <a:tcPr/>
                </a:tc>
                <a:tc>
                  <a:txBody>
                    <a:bodyPr/>
                    <a:lstStyle/>
                    <a:p>
                      <a:pPr>
                        <a:defRPr sz="950">
                          <a:solidFill>
                            <a:srgbClr val="0F172A"/>
                          </a:solidFill>
                        </a:defRPr>
                      </a:pPr>
                      <a:r>
                        <a:t>0.795</a:t>
                      </a:r>
                    </a:p>
                  </a:txBody>
                  <a:tcPr/>
                </a:tc>
                <a:tc>
                  <a:txBody>
                    <a:bodyPr/>
                    <a:lstStyle/>
                    <a:p>
                      <a:pPr>
                        <a:defRPr sz="950">
                          <a:solidFill>
                            <a:srgbClr val="0F172A"/>
                          </a:solidFill>
                        </a:defRPr>
                      </a:pPr>
                      <a:r>
                        <a:t>0.684</a:t>
                      </a:r>
                    </a:p>
                  </a:txBody>
                  <a:tcPr/>
                </a:tc>
                <a:tc>
                  <a:txBody>
                    <a:bodyPr/>
                    <a:lstStyle/>
                    <a:p>
                      <a:pPr>
                        <a:defRPr sz="950">
                          <a:solidFill>
                            <a:srgbClr val="0F172A"/>
                          </a:solidFill>
                        </a:defRPr>
                      </a:pPr>
                      <a:r>
                        <a:t>0.14 ms</a:t>
                      </a:r>
                    </a:p>
                  </a:txBody>
                  <a:tcPr/>
                </a:tc>
              </a:tr>
              <a:tr h="420624">
                <a:tc>
                  <a:txBody>
                    <a:bodyPr/>
                    <a:lstStyle/>
                    <a:p>
                      <a:pPr>
                        <a:defRPr sz="950" b="1">
                          <a:solidFill>
                            <a:srgbClr val="16A34A"/>
                          </a:solidFill>
                        </a:defRPr>
                      </a:pPr>
                      <a:r>
                        <a:t>4. Proposed TIDPS (Ours)</a:t>
                      </a:r>
                    </a:p>
                  </a:txBody>
                  <a:tcPr>
                    <a:solidFill>
                      <a:srgbClr val="F0FDF4"/>
                    </a:solidFill>
                  </a:tcPr>
                </a:tc>
                <a:tc>
                  <a:txBody>
                    <a:bodyPr/>
                    <a:lstStyle/>
                    <a:p>
                      <a:pPr>
                        <a:defRPr sz="950" b="1">
                          <a:solidFill>
                            <a:srgbClr val="16A34A"/>
                          </a:solidFill>
                        </a:defRPr>
                      </a:pPr>
                      <a:r>
                        <a:t>0.984 (Peak)</a:t>
                      </a:r>
                    </a:p>
                  </a:txBody>
                  <a:tcPr>
                    <a:solidFill>
                      <a:srgbClr val="F0FDF4"/>
                    </a:solidFill>
                  </a:tcPr>
                </a:tc>
                <a:tc>
                  <a:txBody>
                    <a:bodyPr/>
                    <a:lstStyle/>
                    <a:p>
                      <a:pPr>
                        <a:defRPr sz="950" b="1">
                          <a:solidFill>
                            <a:srgbClr val="16A34A"/>
                          </a:solidFill>
                        </a:defRPr>
                      </a:pPr>
                      <a:r>
                        <a:t>0.946 (Mode 1)</a:t>
                      </a:r>
                    </a:p>
                  </a:txBody>
                  <a:tcPr>
                    <a:solidFill>
                      <a:srgbClr val="F0FDF4"/>
                    </a:solidFill>
                  </a:tcPr>
                </a:tc>
                <a:tc>
                  <a:txBody>
                    <a:bodyPr/>
                    <a:lstStyle/>
                    <a:p>
                      <a:pPr>
                        <a:defRPr sz="950" b="1">
                          <a:solidFill>
                            <a:srgbClr val="16A34A"/>
                          </a:solidFill>
                        </a:defRPr>
                      </a:pPr>
                      <a:r>
                        <a:t>0.892 (Mode 2)</a:t>
                      </a:r>
                    </a:p>
                  </a:txBody>
                  <a:tcPr>
                    <a:solidFill>
                      <a:srgbClr val="F0FDF4"/>
                    </a:solidFill>
                  </a:tcPr>
                </a:tc>
                <a:tc>
                  <a:txBody>
                    <a:bodyPr/>
                    <a:lstStyle/>
                    <a:p>
                      <a:pPr>
                        <a:defRPr sz="950" b="1">
                          <a:solidFill>
                            <a:srgbClr val="16A34A"/>
                          </a:solidFill>
                        </a:defRPr>
                      </a:pPr>
                      <a:r>
                        <a:t>0.814 (Mode 3)</a:t>
                      </a:r>
                    </a:p>
                  </a:txBody>
                  <a:tcPr>
                    <a:solidFill>
                      <a:srgbClr val="F0FDF4"/>
                    </a:solidFill>
                  </a:tcPr>
                </a:tc>
                <a:tc>
                  <a:txBody>
                    <a:bodyPr/>
                    <a:lstStyle/>
                    <a:p>
                      <a:pPr>
                        <a:defRPr sz="950" b="1">
                          <a:solidFill>
                            <a:srgbClr val="16A34A"/>
                          </a:solidFill>
                        </a:defRPr>
                      </a:pPr>
                      <a:r>
                        <a:t>0.06 ms (FASTEST)</a:t>
                      </a:r>
                    </a:p>
                  </a:txBody>
                  <a:tcPr>
                    <a:solidFill>
                      <a:srgbClr val="F0FDF4"/>
                    </a:solidFill>
                  </a:tcPr>
                </a:tc>
              </a:tr>
            </a:tbl>
          </a:graphicData>
        </a:graphic>
      </p:graphicFrame>
      <p:sp>
        <p:nvSpPr>
          <p:cNvPr id="7" name="Rounded Rectangle 6"/>
          <p:cNvSpPr/>
          <p:nvPr/>
        </p:nvSpPr>
        <p:spPr>
          <a:xfrm>
            <a:off x="731520" y="4526280"/>
            <a:ext cx="10698480" cy="182880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663440"/>
            <a:ext cx="10241280" cy="1554480"/>
          </a:xfrm>
          <a:prstGeom prst="rect">
            <a:avLst/>
          </a:prstGeom>
          <a:noFill/>
        </p:spPr>
        <p:txBody>
          <a:bodyPr wrap="square">
            <a:spAutoFit/>
          </a:bodyPr>
          <a:lstStyle/>
          <a:p>
            <a:pPr>
              <a:spcAft>
                <a:spcPts val="400"/>
              </a:spcAft>
              <a:defRPr sz="1100" b="1">
                <a:solidFill>
                  <a:srgbClr val="2563EB"/>
                </a:solidFill>
              </a:defRPr>
            </a:pPr>
            <a:r>
              <a:t>KEY TAKEAWAY &amp; NOVEL METRIC: DETECTION CONTINUITY METRIC (DCM)</a:t>
            </a:r>
          </a:p>
          <a:p>
            <a:pPr>
              <a:defRPr sz="950">
                <a:solidFill>
                  <a:srgbClr val="0F172A"/>
                </a:solidFill>
              </a:defRPr>
            </a:pPr>
            <a:r>
              <a:t>• What is DCM? Area under the F1-vs-Degradation curve normalized by ideal retention: DCM = ∫ F1(Q) dQ / ∫ F1_ideal dQ.</a:t>
            </a:r>
          </a:p>
          <a:p>
            <a:pPr>
              <a:defRPr sz="950">
                <a:solidFill>
                  <a:srgbClr val="0F172A"/>
                </a:solidFill>
              </a:defRPr>
            </a:pPr>
            <a:r>
              <a:t>• The Result: Proposed TIDPS maintains DCM &gt; 0.88, whereas conventional static NIDS scores DCM = 0.52 (a 69% improvement in continuity).</a:t>
            </a:r>
          </a:p>
          <a:p>
            <a:pPr>
              <a:defRPr sz="950">
                <a:solidFill>
                  <a:srgbClr val="0F172A"/>
                </a:solidFill>
              </a:defRPr>
            </a:pPr>
            <a:r>
              <a:t>• The Operational Victory: By shifting to Mode 2 and Mode 3, inference latency actually DROPS from 0.12ms to 0.04ms during network distress—speeding up inspection right when the network is congested!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DEFENSE STRATEGY</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Faculty Review Defense: 3 Toughest Questions &amp; Winning Answers</a:t>
            </a:r>
          </a:p>
        </p:txBody>
      </p:sp>
      <p:sp>
        <p:nvSpPr>
          <p:cNvPr id="4" name="Rounded Rectangle 3"/>
          <p:cNvSpPr/>
          <p:nvPr/>
        </p:nvSpPr>
        <p:spPr>
          <a:xfrm>
            <a:off x="731520" y="1371600"/>
            <a:ext cx="10698480" cy="155448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81328"/>
            <a:ext cx="10241280" cy="1325880"/>
          </a:xfrm>
          <a:prstGeom prst="rect">
            <a:avLst/>
          </a:prstGeom>
          <a:noFill/>
        </p:spPr>
        <p:txBody>
          <a:bodyPr wrap="square">
            <a:spAutoFit/>
          </a:bodyPr>
          <a:lstStyle/>
          <a:p>
            <a:pPr>
              <a:spcAft>
                <a:spcPts val="300"/>
              </a:spcAft>
              <a:defRPr sz="1100" b="1">
                <a:solidFill>
                  <a:srgbClr val="EA580C"/>
                </a:solidFill>
              </a:defRPr>
            </a:pPr>
            <a:r>
              <a:t>Q1: 'Why switch models instead of just using imputation (MICE/KNN) or XGBoost missing value paths?'</a:t>
            </a:r>
          </a:p>
          <a:p>
            <a:pPr>
              <a:defRPr sz="950">
                <a:solidFill>
                  <a:srgbClr val="0F172A"/>
                </a:solidFill>
              </a:defRPr>
            </a:pPr>
            <a:r>
              <a:t>WINNING ANSWER: 'Real-time imputation algorithms add 20–30 milliseconds of per-flow latency, which completely breaks 10Gbps line-rate throughput and causes buffer packet drops, while hallucinating synthetic features that trigger false alarms. Furthermore, built-in tree default paths fail when an entire coherent modality (like all backward flow metrics due to asymmetric routing) vanishes simultaneously. Prevalidated models trained specifically on verifiable feature subspaces guarantee deterministic detection accuracy and sub-millisecond inference.'</a:t>
            </a:r>
          </a:p>
        </p:txBody>
      </p:sp>
      <p:sp>
        <p:nvSpPr>
          <p:cNvPr id="6" name="Rounded Rectangle 5"/>
          <p:cNvSpPr/>
          <p:nvPr/>
        </p:nvSpPr>
        <p:spPr>
          <a:xfrm>
            <a:off x="731520" y="3063240"/>
            <a:ext cx="10698480" cy="155448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172968"/>
            <a:ext cx="10241280" cy="1325880"/>
          </a:xfrm>
          <a:prstGeom prst="rect">
            <a:avLst/>
          </a:prstGeom>
          <a:noFill/>
        </p:spPr>
        <p:txBody>
          <a:bodyPr wrap="square">
            <a:spAutoFit/>
          </a:bodyPr>
          <a:lstStyle/>
          <a:p>
            <a:pPr>
              <a:spcAft>
                <a:spcPts val="300"/>
              </a:spcAft>
              <a:defRPr sz="1100" b="1">
                <a:solidFill>
                  <a:srgbClr val="EA580C"/>
                </a:solidFill>
              </a:defRPr>
            </a:pPr>
            <a:r>
              <a:t>Q2: 'Are your mode-switching thresholds arbitrary numbers you guessed?'</a:t>
            </a:r>
          </a:p>
          <a:p>
            <a:pPr>
              <a:defRPr sz="950">
                <a:solidFill>
                  <a:srgbClr val="0F172A"/>
                </a:solidFill>
              </a:defRPr>
            </a:pPr>
            <a:r>
              <a:t>WINNING ANSWER: 'No. The thresholds τ_high = 0.80 and τ_low = 0.40 are derived empirically during the offline prevalidation calibration phase. We plot Pareto frontiers of empirical F1-score versus Telemetry Quality Score Q, pinpointing the exact mathematical inflection points where the reduced-feature model statistically outperforms the degrading full-feature model.'</a:t>
            </a:r>
          </a:p>
        </p:txBody>
      </p:sp>
      <p:sp>
        <p:nvSpPr>
          <p:cNvPr id="8" name="Rounded Rectangle 7"/>
          <p:cNvSpPr/>
          <p:nvPr/>
        </p:nvSpPr>
        <p:spPr>
          <a:xfrm>
            <a:off x="731520" y="4754880"/>
            <a:ext cx="10698480" cy="155448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864608"/>
            <a:ext cx="10241280" cy="1325880"/>
          </a:xfrm>
          <a:prstGeom prst="rect">
            <a:avLst/>
          </a:prstGeom>
          <a:noFill/>
        </p:spPr>
        <p:txBody>
          <a:bodyPr wrap="square">
            <a:spAutoFit/>
          </a:bodyPr>
          <a:lstStyle/>
          <a:p>
            <a:pPr>
              <a:spcAft>
                <a:spcPts val="300"/>
              </a:spcAft>
              <a:defRPr sz="1100" b="1">
                <a:solidFill>
                  <a:srgbClr val="EA580C"/>
                </a:solidFill>
              </a:defRPr>
            </a:pPr>
            <a:r>
              <a:t>Q3: 'Does mode switching cause latency spikes or dropped packets during transition?'</a:t>
            </a:r>
          </a:p>
          <a:p>
            <a:pPr>
              <a:defRPr sz="950">
                <a:solidFill>
                  <a:srgbClr val="0F172A"/>
                </a:solidFill>
              </a:defRPr>
            </a:pPr>
            <a:r>
              <a:t>WINNING ANSWER: 'No. All three models remain pre-loaded and warm in RAM. The arbiter functions purely as an O(1) pointer dispatch at the ingestion stage, adding less than 1 microsecond of overhead. Furthermore, our ±0.05 hysteresis buffer prevents rapid mode flapping under noisy boundary conditions.'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515600" cy="320040"/>
          </a:xfrm>
          <a:prstGeom prst="rect">
            <a:avLst/>
          </a:prstGeom>
          <a:noFill/>
        </p:spPr>
        <p:txBody>
          <a:bodyPr wrap="square" lIns="0" tIns="0" rIns="0" bIns="0">
            <a:spAutoFit/>
          </a:bodyPr>
          <a:lstStyle/>
          <a:p>
            <a:pPr>
              <a:defRPr sz="1000" b="1">
                <a:solidFill>
                  <a:srgbClr val="2563EB"/>
                </a:solidFill>
              </a:defRPr>
            </a:pPr>
            <a:r>
              <a:t>IMPLEMENTATION ROADMAP</a:t>
            </a:r>
          </a:p>
        </p:txBody>
      </p:sp>
      <p:sp>
        <p:nvSpPr>
          <p:cNvPr id="3" name="TextBox 2"/>
          <p:cNvSpPr txBox="1"/>
          <p:nvPr/>
        </p:nvSpPr>
        <p:spPr>
          <a:xfrm>
            <a:off x="731520" y="685800"/>
            <a:ext cx="10515600" cy="548640"/>
          </a:xfrm>
          <a:prstGeom prst="rect">
            <a:avLst/>
          </a:prstGeom>
          <a:noFill/>
        </p:spPr>
        <p:txBody>
          <a:bodyPr wrap="square" lIns="0" tIns="0" rIns="0" bIns="0">
            <a:spAutoFit/>
          </a:bodyPr>
          <a:lstStyle/>
          <a:p>
            <a:pPr>
              <a:defRPr sz="2200" b="1">
                <a:solidFill>
                  <a:srgbClr val="0F172A"/>
                </a:solidFill>
              </a:defRPr>
            </a:pPr>
            <a:r>
              <a:t>Technology Stack &amp; 30-Day Execution Timeline</a:t>
            </a:r>
          </a:p>
        </p:txBody>
      </p:sp>
      <p:sp>
        <p:nvSpPr>
          <p:cNvPr id="4" name="Rounded Rectangle 3"/>
          <p:cNvSpPr/>
          <p:nvPr/>
        </p:nvSpPr>
        <p:spPr>
          <a:xfrm>
            <a:off x="731520" y="1371600"/>
            <a:ext cx="411480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3657600" cy="4572000"/>
          </a:xfrm>
          <a:prstGeom prst="rect">
            <a:avLst/>
          </a:prstGeom>
          <a:noFill/>
        </p:spPr>
        <p:txBody>
          <a:bodyPr wrap="square">
            <a:spAutoFit/>
          </a:bodyPr>
          <a:lstStyle/>
          <a:p>
            <a:pPr>
              <a:spcAft>
                <a:spcPts val="800"/>
              </a:spcAft>
              <a:defRPr sz="1200" b="1">
                <a:solidFill>
                  <a:srgbClr val="2563EB"/>
                </a:solidFill>
              </a:defRPr>
            </a:pPr>
            <a:r>
              <a:t>TECHNOLOGY STACK</a:t>
            </a:r>
          </a:p>
          <a:p>
            <a:pPr>
              <a:spcAft>
                <a:spcPts val="400"/>
              </a:spcAft>
              <a:defRPr sz="1000">
                <a:solidFill>
                  <a:srgbClr val="0F172A"/>
                </a:solidFill>
              </a:defRPr>
            </a:pPr>
            <a:r>
              <a:t>• Core Language: Python 3.10+</a:t>
            </a:r>
          </a:p>
          <a:p>
            <a:pPr>
              <a:spcAft>
                <a:spcPts val="400"/>
              </a:spcAft>
              <a:defRPr sz="1000">
                <a:solidFill>
                  <a:srgbClr val="0F172A"/>
                </a:solidFill>
              </a:defRPr>
            </a:pPr>
            <a:r>
              <a:t>• Data Ingestion: Pandas, NumPy</a:t>
            </a:r>
          </a:p>
          <a:p>
            <a:pPr>
              <a:spcAft>
                <a:spcPts val="400"/>
              </a:spcAft>
              <a:defRPr sz="1000">
                <a:solidFill>
                  <a:srgbClr val="0F172A"/>
                </a:solidFill>
              </a:defRPr>
            </a:pPr>
            <a:r>
              <a:t>• Machine Learning: Scikit-learn, XGBoost</a:t>
            </a:r>
          </a:p>
          <a:p>
            <a:pPr>
              <a:spcAft>
                <a:spcPts val="400"/>
              </a:spcAft>
              <a:defRPr sz="1000">
                <a:solidFill>
                  <a:srgbClr val="0F172A"/>
                </a:solidFill>
              </a:defRPr>
            </a:pPr>
            <a:r>
              <a:t>• Traffic Analysis: Scapy / Wireshark</a:t>
            </a:r>
          </a:p>
          <a:p>
            <a:pPr>
              <a:spcAft>
                <a:spcPts val="400"/>
              </a:spcAft>
              <a:defRPr sz="1000">
                <a:solidFill>
                  <a:srgbClr val="0F172A"/>
                </a:solidFill>
              </a:defRPr>
            </a:pPr>
            <a:r>
              <a:t>• Live Dashboard: Streamlit Security App</a:t>
            </a:r>
          </a:p>
          <a:p>
            <a:pPr>
              <a:spcAft>
                <a:spcPts val="400"/>
              </a:spcAft>
              <a:defRPr sz="1000">
                <a:solidFill>
                  <a:srgbClr val="0F172A"/>
                </a:solidFill>
              </a:defRPr>
            </a:pPr>
            <a:r>
              <a:t>• Alerting Integration: Telegram / SMTP Webhook</a:t>
            </a:r>
          </a:p>
          <a:p>
            <a:pPr>
              <a:spcAft>
                <a:spcPts val="400"/>
              </a:spcAft>
              <a:defRPr sz="1000">
                <a:solidFill>
                  <a:srgbClr val="0F172A"/>
                </a:solidFill>
              </a:defRPr>
            </a:pPr>
            <a:r>
              <a:t>• Benchmarking &amp; Math: SciPy, Matplotlib</a:t>
            </a:r>
          </a:p>
          <a:p>
            <a:pPr>
              <a:spcAft>
                <a:spcPts val="400"/>
              </a:spcAft>
              <a:defRPr sz="1000">
                <a:solidFill>
                  <a:srgbClr val="0F172A"/>
                </a:solidFill>
              </a:defRPr>
            </a:pPr>
            <a:r>
              <a:t>• Paper Manuscript: LaTeX (IEEEtran standard)</a:t>
            </a:r>
          </a:p>
        </p:txBody>
      </p:sp>
      <p:sp>
        <p:nvSpPr>
          <p:cNvPr id="6" name="Rounded Rectangle 5"/>
          <p:cNvSpPr/>
          <p:nvPr/>
        </p:nvSpPr>
        <p:spPr>
          <a:xfrm>
            <a:off x="5120640" y="1371600"/>
            <a:ext cx="63093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49240" y="1554480"/>
            <a:ext cx="5852160" cy="4572000"/>
          </a:xfrm>
          <a:prstGeom prst="rect">
            <a:avLst/>
          </a:prstGeom>
          <a:noFill/>
        </p:spPr>
        <p:txBody>
          <a:bodyPr wrap="square">
            <a:spAutoFit/>
          </a:bodyPr>
          <a:lstStyle/>
          <a:p>
            <a:pPr>
              <a:spcAft>
                <a:spcPts val="800"/>
              </a:spcAft>
              <a:defRPr sz="1200" b="1">
                <a:solidFill>
                  <a:srgbClr val="2563EB"/>
                </a:solidFill>
              </a:defRPr>
            </a:pPr>
            <a:r>
              <a:t>30-DAY IMPLEMENTATION MILESTONES</a:t>
            </a:r>
          </a:p>
          <a:p>
            <a:pPr>
              <a:defRPr sz="1000" b="1">
                <a:solidFill>
                  <a:srgbClr val="0F172A"/>
                </a:solidFill>
              </a:defRPr>
            </a:pPr>
            <a:r>
              <a:t>Phase 1 (Days 1–7): Dataset &amp; Failure Simulator</a:t>
            </a:r>
          </a:p>
          <a:p>
            <a:pPr>
              <a:spcAft>
                <a:spcPts val="400"/>
              </a:spcAft>
              <a:defRPr sz="900">
                <a:solidFill>
                  <a:srgbClr val="64748B"/>
                </a:solidFill>
              </a:defRPr>
            </a:pPr>
            <a:r>
              <a:t>Partition CIC-IDS2017 feature subspaces (Full, Reduced, Fallback). Build realistic degradation simulator (L0 to L3).</a:t>
            </a:r>
          </a:p>
          <a:p>
            <a:pPr>
              <a:defRPr sz="1000" b="1">
                <a:solidFill>
                  <a:srgbClr val="0F172A"/>
                </a:solidFill>
              </a:defRPr>
            </a:pPr>
            <a:r>
              <a:t>Phase 2 (Days 8–15): Prevalidated Model Zoo Training</a:t>
            </a:r>
          </a:p>
          <a:p>
            <a:pPr>
              <a:spcAft>
                <a:spcPts val="400"/>
              </a:spcAft>
              <a:defRPr sz="900">
                <a:solidFill>
                  <a:srgbClr val="64748B"/>
                </a:solidFill>
              </a:defRPr>
            </a:pPr>
            <a:r>
              <a:t>Train Mode 1 (Full RF), Mode 2 (Reduced L3/L4 RF), and Mode 3 (Rule Engine). Train Static, Imputation, and Dropout baselines.</a:t>
            </a:r>
          </a:p>
          <a:p>
            <a:pPr>
              <a:defRPr sz="1000" b="1">
                <a:solidFill>
                  <a:srgbClr val="0F172A"/>
                </a:solidFill>
              </a:defRPr>
            </a:pPr>
            <a:r>
              <a:t>Phase 3 (Days 16–22): TQM &amp; Dynamic Arbiter</a:t>
            </a:r>
          </a:p>
          <a:p>
            <a:pPr>
              <a:spcAft>
                <a:spcPts val="400"/>
              </a:spcAft>
              <a:defRPr sz="900">
                <a:solidFill>
                  <a:srgbClr val="64748B"/>
                </a:solidFill>
              </a:defRPr>
            </a:pPr>
            <a:r>
              <a:t>Implement Telemetry Quality Monitor, score function Q(t), and hysteresis switching logic with warm memory models.</a:t>
            </a:r>
          </a:p>
          <a:p>
            <a:pPr>
              <a:defRPr sz="1000" b="1">
                <a:solidFill>
                  <a:srgbClr val="0F172A"/>
                </a:solidFill>
              </a:defRPr>
            </a:pPr>
            <a:r>
              <a:t>Phase 4 (Days 23–27): Automated Experiments &amp; LaTeX Export</a:t>
            </a:r>
          </a:p>
          <a:p>
            <a:pPr>
              <a:spcAft>
                <a:spcPts val="400"/>
              </a:spcAft>
              <a:defRPr sz="900">
                <a:solidFill>
                  <a:srgbClr val="64748B"/>
                </a:solidFill>
              </a:defRPr>
            </a:pPr>
            <a:r>
              <a:t>Execute benchmark sweeps, generate resilience curves, calculate DCM, and export LaTeX table snippets directly to paper.</a:t>
            </a:r>
          </a:p>
          <a:p>
            <a:pPr>
              <a:defRPr sz="1000" b="1">
                <a:solidFill>
                  <a:srgbClr val="0F172A"/>
                </a:solidFill>
              </a:defRPr>
            </a:pPr>
            <a:r>
              <a:t>Phase 5 (Days 28–30): Interactive Dashboard &amp; Paper Finalization</a:t>
            </a:r>
          </a:p>
          <a:p>
            <a:pPr>
              <a:spcAft>
                <a:spcPts val="400"/>
              </a:spcAft>
              <a:defRPr sz="900">
                <a:solidFill>
                  <a:srgbClr val="64748B"/>
                </a:solidFill>
              </a:defRPr>
            </a:pPr>
            <a:r>
              <a:t>Deploy Streamlit interactive security dashboard with real-time telemetry degradation sliders and complete manuscript draft.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4114800"/>
          </a:xfrm>
          <a:prstGeom prst="rect">
            <a:avLst/>
          </a:prstGeom>
          <a:noFill/>
        </p:spPr>
        <p:txBody>
          <a:bodyPr wrap="square">
            <a:spAutoFit/>
          </a:bodyPr>
          <a:lstStyle/>
          <a:p>
            <a:pPr>
              <a:spcAft>
                <a:spcPts val="1200"/>
              </a:spcAft>
              <a:defRPr sz="1300" b="1">
                <a:solidFill>
                  <a:srgbClr val="0EA5E9"/>
                </a:solidFill>
              </a:defRPr>
            </a:pPr>
            <a:r>
              <a:t>RESEARCH SUMMARY &amp; CONTRIBUTIONS</a:t>
            </a:r>
          </a:p>
          <a:p>
            <a:pPr>
              <a:spcAft>
                <a:spcPts val="1600"/>
              </a:spcAft>
              <a:defRPr sz="2800" b="1">
                <a:solidFill>
                  <a:srgbClr val="FFFFFF"/>
                </a:solidFill>
              </a:defRPr>
            </a:pPr>
            <a:r>
              <a:t>Transforming Brittle ML-NIDS into Resilient, Fault-Tolerant Systems</a:t>
            </a:r>
          </a:p>
          <a:p>
            <a:pPr>
              <a:spcAft>
                <a:spcPts val="800"/>
              </a:spcAft>
              <a:defRPr sz="1200">
                <a:solidFill>
                  <a:srgbClr val="E2E8F0"/>
                </a:solidFill>
              </a:defRPr>
            </a:pPr>
            <a:r>
              <a:t>✔ Telemetry-Aware Intelligence: Breaks free from the unrealistic assumption that telemetry is always 100% complete and clean.</a:t>
            </a:r>
          </a:p>
          <a:p>
            <a:pPr>
              <a:spcAft>
                <a:spcPts val="800"/>
              </a:spcAft>
              <a:defRPr sz="1200">
                <a:solidFill>
                  <a:srgbClr val="E2E8F0"/>
                </a:solidFill>
              </a:defRPr>
            </a:pPr>
            <a:r>
              <a:t>✔ Prevalidated Specialization: Replaces slow, error-prone data imputation with specialized models trained on verified observable subspaces.</a:t>
            </a:r>
          </a:p>
          <a:p>
            <a:pPr>
              <a:spcAft>
                <a:spcPts val="800"/>
              </a:spcAft>
              <a:defRPr sz="1200">
                <a:solidFill>
                  <a:srgbClr val="E2E8F0"/>
                </a:solidFill>
              </a:defRPr>
            </a:pPr>
            <a:r>
              <a:t>✔ Guaranteed Detection Continuity: Mode 2 and Mode 3 ensure the network never goes blind, even during severe routing asymmetry or sensor crashes.</a:t>
            </a:r>
          </a:p>
          <a:p>
            <a:pPr>
              <a:spcAft>
                <a:spcPts val="800"/>
              </a:spcAft>
              <a:defRPr sz="1200">
                <a:solidFill>
                  <a:srgbClr val="E2E8F0"/>
                </a:solidFill>
              </a:defRPr>
            </a:pPr>
            <a:r>
              <a:t>✔ Zero Line-Rate Latency Penalty: Deterministic arbitration with hysteresis operates at &lt; 1 microsecond, speeding up inference during network stress.</a:t>
            </a:r>
          </a:p>
        </p:txBody>
      </p:sp>
      <p:sp>
        <p:nvSpPr>
          <p:cNvPr id="4" name="TextBox 3"/>
          <p:cNvSpPr txBox="1"/>
          <p:nvPr/>
        </p:nvSpPr>
        <p:spPr>
          <a:xfrm>
            <a:off x="914400" y="5669280"/>
            <a:ext cx="10362895" cy="731520"/>
          </a:xfrm>
          <a:prstGeom prst="rect">
            <a:avLst/>
          </a:prstGeom>
          <a:noFill/>
        </p:spPr>
        <p:txBody>
          <a:bodyPr wrap="none">
            <a:spAutoFit/>
          </a:bodyPr>
          <a:lstStyle/>
          <a:p>
            <a:pPr>
              <a:defRPr sz="1600" b="1">
                <a:solidFill>
                  <a:srgbClr val="0EA5E9"/>
                </a:solidFill>
              </a:defRPr>
            </a:pPr>
            <a:r>
              <a:t>Thank You!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