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10362895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EA5E9"/>
                </a:solidFill>
              </a:defRPr>
            </a:pPr>
            <a:r>
              <a:t>CAPSTONE / RESEARCH PROJECT • REVIEW 1 PRESENTATION</a:t>
            </a:r>
          </a:p>
          <a:p>
            <a:pPr>
              <a:spcAft>
                <a:spcPts val="1000"/>
              </a:spcAft>
              <a:defRPr sz="3000" b="1">
                <a:solidFill>
                  <a:srgbClr val="FFFFFF"/>
                </a:solidFill>
              </a:defRPr>
            </a:pPr>
            <a:r>
              <a:t>Resilient AI-Based Network Intrusion Detection</a:t>
            </a:r>
            <a:br/>
            <a:r>
              <a:t>and Prevention System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Maintaining Detection Continuity via Telemetry-Aware Multi-Mode Arbitration &amp; Intelligent Alerting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931920"/>
            <a:ext cx="5029200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4114800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TEAM MEMBER 1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THARAKESHA.M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Reg. No: 24BCE2538</a:t>
            </a:r>
            <a:br/>
            <a:r>
              <a:t>School of Computer Science &amp; Engineering (SCOPE)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3931920"/>
            <a:ext cx="5029200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4114800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TEAM MEMBER 2</a:t>
            </a:r>
          </a:p>
          <a:p>
            <a:pPr>
              <a:defRPr sz="1800" b="1">
                <a:solidFill>
                  <a:srgbClr val="FFFFFF"/>
                </a:solidFill>
              </a:defRPr>
            </a:pPr>
            <a:r>
              <a:t>BHARAT</a:t>
            </a:r>
          </a:p>
          <a:p>
            <a:pPr>
              <a:defRPr sz="1200">
                <a:solidFill>
                  <a:srgbClr val="CBD5E1"/>
                </a:solidFill>
              </a:defRPr>
            </a:pPr>
            <a:r>
              <a:t>Reg. No: 24BCB0056</a:t>
            </a:r>
            <a:br/>
            <a:r>
              <a:t>School of Computer Science &amp; Engineering (SCOPE)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806440"/>
            <a:ext cx="10362895" cy="5943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89788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</a:defRPr>
            </a:pPr>
            <a:r>
              <a:t>Vellore Institute of Technology (VIT), Vellore • Academic Year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EXECUTIVE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Abstract: Resilient Multi-Mode Intrusion Detection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10149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2563EB"/>
                </a:solidFill>
              </a:defRPr>
            </a:pPr>
            <a:r>
              <a:t>RESEARCH SUMMARY &amp; VALUE PROPOSITION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Modern Machine Learning-based Network Intrusion Detection Systems (ML-NIDS) achieve high accuracy (&gt;99%) in pristine offline datasets such as CIC-IDS2017. However, during real-world operational deployments, telemetry severely degrades due to asymmetric routing, line-rate packet sampling, sensor starvation, and TLS encryption, causing standard ML models to suffer a catastrophic 'Performance Cliff' where accuracy plunges to 30%-45%.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</a:defRPr>
            </a:pPr>
            <a:r>
              <a:t>To solve this problem, we propose TIDPS (Telemetry-Aware Resilient NIDPS), a real-time fault-tolerant architecture that continuously evaluates telemetry quality Q(t) via feature completeness C(t) and physical invariant consistency S(t). A hysteresis-buffered Mode Arbiter dynamically dispatches flows across a prevalidated tri-mode detection hierarchy: Mode 1 (Full 78-feature ML), Mode 2 (Reduced 16-feature L3/L4 ML), and Mode 3 (Sub-5µs Deterministic Volumetric Invariant Rules). Threats are mitigated using dual-action adaptive responses: IP quarantine for volumetric floods and token-bucket rate-limiting for reconnaissance, implemented natively via Linux iptables and Windows PowerShell.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480560"/>
            <a:ext cx="3413455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617720"/>
            <a:ext cx="30476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C2626"/>
                </a:solidFill>
              </a:defRPr>
            </a:pPr>
            <a:r>
              <a:t>THE CHALLENGE</a:t>
            </a:r>
          </a:p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Catastrophic Accuracy Cliff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ML models crash when telemetry drops backward flows or inter-arrival timings.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480560"/>
            <a:ext cx="3413455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4617720"/>
            <a:ext cx="30476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THE SOLUTION</a:t>
            </a:r>
          </a:p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Tri-Mode Dynamic Arbiter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Dynamically routes flows between Full ML, Degraded ML, and Deterministic Rules with hysteresis.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4480560"/>
            <a:ext cx="3413455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4617720"/>
            <a:ext cx="30476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6A34A"/>
                </a:solidFill>
              </a:defRPr>
            </a:pPr>
            <a:r>
              <a:t>THE IMPACT</a:t>
            </a:r>
          </a:p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Continuous Zero-Latency Defense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Retains 0.8843 DCM and 0.9551 F1 under asymmetric routing with &lt;0.011 ms inference latency.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MOTIVATION &amp; FAILURE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Problem Statement: The Telemetry Fallacy in ML-NIDS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4023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DC2626"/>
                </a:solidFill>
              </a:defRPr>
            </a:pPr>
            <a:r>
              <a:t>PHYSICAL CAUSES OF TELEMETRY COLLAPSE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1. Asymmetric Routing (Return Path Missing)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In ISP and enterprise backbones, forward and return packets traverse different physical switches. The sensor sees forward traffic but zero backward features (Bwd Packet Length, Down/Up Ratio vanish).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2. Line-Rate Packet Sampling (1-in-N Sampling)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Under heavy 10G/40G loads, routers invoke sFlow/NetFlow packet sampling, destroying high-precision inter-arrival times (IAT Mean, Std, Min, Max).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3. Sensor Resource Starvation (Buffer Drops)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Volumetric floods overwhelm switch memory buffers, causing flow record drops and hardware-level telemetry degradation.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023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LIMITATIONS OF CONVENTIONAL REMEDIES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Conventional Static ML-NIDS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Models trained on full 78 features assume all inputs are valid. Missing features are fed as zeros, causing accuracy to collapse to 30%-45% (The Performance Cliff).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Real-Time Feature Imputation (Mean / KNN / SVD)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Imputation algorithms introduce excessive computation latency (&gt;28 ms/flow), impossible at line rate, and hallucinate synthetic values that trigger catastrophic false alarms (up to 99% missed attacks).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Feature-Dropout Training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</a:defRPr>
            </a:pPr>
            <a:r>
              <a:t>Uniform dropout during training degrades pristine-state detection accuracy and fails under non-random, structured network topological failures.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532120"/>
            <a:ext cx="10728655" cy="8686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623560"/>
            <a:ext cx="10241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C2626"/>
                </a:solidFill>
              </a:defRPr>
            </a:pPr>
            <a:r>
              <a:t>EXPLICIT PROBLEM STATEMENT: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How can an AI-based NIDPS maintain unbroken detection continuity, sub-millisecond line-rate latency, and zero false-alarm escalation when operational network telemetry experiences structured feature loss and sensor degradation?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PROJECT SCOPE &amp;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Project Objectives: Core Milestones &amp; Deliverables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Objective 1: Telemetry Quality Metric (TQM)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Design and implement a real-time Telemetry Quality Score Q(t) that evaluates both Feature Completeness C(t) and Physical Protocol Invariants S(t) (e.g., Duration &gt; 0, Packet Length &lt;= MTU, Flow Bytes/s consistency).</a:t>
            </a:r>
          </a:p>
          <a:p>
            <a:pPr>
              <a:defRPr sz="900" i="1">
                <a:solidFill>
                  <a:srgbClr val="64748B"/>
                </a:solidFill>
              </a:defRPr>
            </a:pPr>
            <a:r>
              <a:t>Formula: Q(t) = 0.70 · C(t) + 0.30 · S(t) with continuous [0, 1] bounded health grading.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10728655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7744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Objective 2: Prevalidated Tri-Mode Detection Hierarchy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Construct a three-tiered model zoo: Mode 1 (Tuned RF on full 78 features), Mode 2 (Reduced RF on 16 immutable Layer 3/4 header counters), and Mode 3 (Deterministic algorithmic volumetric rules executing in &lt;5 µs).</a:t>
            </a:r>
          </a:p>
          <a:p>
            <a:pPr>
              <a:defRPr sz="900" i="1">
                <a:solidFill>
                  <a:srgbClr val="64748B"/>
                </a:solidFill>
              </a:defRPr>
            </a:pPr>
            <a:r>
              <a:t>Guarantees that when telemetry degrades, the system never imputes fake data, but gracefully shifts to prevalidated lower-dimensional models.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91840"/>
            <a:ext cx="10728655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38328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Objective 3: Hysteresis-Buffered Mode Arbiter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Develop a stateful dispatch engine with a ±0.05 hysteresis band around decision thresholds (τ_high = 0.80, τ_low = 0.40) to prevent rapid mode oscillation ('flapping') caused by transient network jitter.</a:t>
            </a:r>
          </a:p>
          <a:p>
            <a:pPr>
              <a:defRPr sz="900" i="1">
                <a:solidFill>
                  <a:srgbClr val="64748B"/>
                </a:solidFill>
              </a:defRPr>
            </a:pPr>
            <a:r>
              <a:t>Prevents system thrashing and ensures smooth transition across degradation tiers.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97680"/>
            <a:ext cx="10728655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38912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Objective 4: Cross-Platform Adaptive Mitigation Engine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Formulate dual-action mitigation: Hard IP Quarantine for volumetric attacks (DDoS) vs. Token-Bucket Rate Limiting (5 pkts/s) for reconnaissance probes (protecting shared NATs and college Wi-Fi).</a:t>
            </a:r>
          </a:p>
          <a:p>
            <a:pPr>
              <a:defRPr sz="900" i="1">
                <a:solidFill>
                  <a:srgbClr val="64748B"/>
                </a:solidFill>
              </a:defRPr>
            </a:pPr>
            <a:r>
              <a:t>Native OS integration with automated command generation for Linux (iptables) and Windows PowerShell (New-NetFirewallRule).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303520"/>
            <a:ext cx="10728655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39496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Objective 5: Empirical Benchmark &amp; Live Deployment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Evaluate detection continuity on 3,750 flows using the Detection Continuity Metric (DCM). Deploy a live public research dashboard on Streamlit Community Cloud and maintain an open-source GitHub codebase.</a:t>
            </a:r>
          </a:p>
          <a:p>
            <a:pPr>
              <a:defRPr sz="900" i="1">
                <a:solidFill>
                  <a:srgbClr val="64748B"/>
                </a:solidFill>
              </a:defRPr>
            </a:pPr>
            <a:r>
              <a:t>Deliverables: Live URL, IEEE manuscript draft, and reproducible benchmark suite.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LITERATURE SURVEY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Literature Review: Critical Analysis of Related Work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728655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26080"/>
                <a:gridCol w="2834640"/>
                <a:gridCol w="2956255"/>
              </a:tblGrid>
              <a:tr h="807720">
                <a:tc>
                  <a:txBody>
                    <a:bodyPr wrap="square"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Author &amp; Year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Paper Title &amp; Focus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Methodology / Contribution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Identified Research Gap / Limitation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807720"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</a:defRPr>
                      </a:pPr>
                      <a:r>
                        <a:t>Sharafaldin et al. (2018)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</a:defRPr>
                      </a:pPr>
                      <a:r>
                        <a:t>Toward Generating a New Intrusion Detection Dataset (CIC-IDS2017)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</a:defRPr>
                      </a:pPr>
                      <a:r>
                        <a:t>Generated comprehensive 78-feature flow dataset with realistic attack profiles.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</a:defRPr>
                      </a:pPr>
                      <a:r>
                        <a:t>Assumes 100% complete bidirectional telemetry in laboratory capture; does not account for runtime routing or sampling degradation.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</a:defRPr>
                      </a:pPr>
                      <a:r>
                        <a:t>Sommer &amp; Paxson (2010)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</a:defRPr>
                      </a:pPr>
                      <a:r>
                        <a:t>Outside the Closed World: On Using ML for Network Intrusion Detection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</a:defRPr>
                      </a:pPr>
                      <a:r>
                        <a:t>Foundational IEEE S&amp;P study analyzing why ML models fail when deployed in real networks.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</a:defRPr>
                      </a:pPr>
                      <a:r>
                        <a:t>Identified the semantic gap and cost of false positives; provided no mechanism for dynamic adaptation under telemetry loss.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07720"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</a:defRPr>
                      </a:pPr>
                      <a:r>
                        <a:t>Lin et al. (2021) /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</a:defRPr>
                      </a:pPr>
                      <a:r>
                        <a:t>Feature Imputation for Incomplete Network Flows (KNN / SVD / MICE)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</a:defRPr>
                      </a:pPr>
                      <a:r>
                        <a:t>Replaces missing features using statistical expectation or nearest-neighbor distance.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</a:defRPr>
                      </a:pPr>
                      <a:r>
                        <a:t>Incurs massive 25-30 ms computation delay per flow (unusable at 10G line rate) and hallucinates fake numbers triggering 99% missed attacks.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</a:defRPr>
                      </a:pPr>
                      <a:r>
                        <a:t>Srivastava et al. (2014) / Baseline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</a:defRPr>
                      </a:pPr>
                      <a:r>
                        <a:t>Dropout: A Simple Way to Prevent Neural Networks from Overfitting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</a:defRPr>
                      </a:pPr>
                      <a:r>
                        <a:t>Introduces random feature masking during model training to improve robustness.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0">
                          <a:solidFill>
                            <a:srgbClr val="0F172A"/>
                          </a:solidFill>
                        </a:defRPr>
                      </a:pPr>
                      <a:r>
                        <a:t>Degrades pristine clean-state accuracy; uniform random masking fails when entire structured blocks (all backward metrics) vanish simultaneously.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07720">
                <a:tc>
                  <a:txBody>
                    <a:bodyPr wrap="square"/>
                    <a:lstStyle/>
                    <a:p>
                      <a:pPr>
                        <a:defRPr sz="900" b="1">
                          <a:solidFill>
                            <a:srgbClr val="2563EB"/>
                          </a:solidFill>
                        </a:defRPr>
                      </a:pPr>
                      <a:r>
                        <a:t>Proposed TIDPS (This Work)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Telemetry-Aware Multi-Mode Detection with Deterministic Fallback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Continuously scores quality Q(t), shifts dynamically across prevalidated models, and retains deterministic fallback.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Solves all above gaps: Zero imputation delay (0.005 ms), 0.8843 DCM retention, zero false-alarm escalation under sensor failure.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ENGINEERING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System Architecture: End-to-End TIDPS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0116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08760"/>
            <a:ext cx="1792224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2563EB"/>
                </a:solidFill>
              </a:defRPr>
            </a:pPr>
            <a:r>
              <a:t>STAGE 1: Ingestion &amp; Feature Vector</a:t>
            </a:r>
          </a:p>
          <a:p>
            <a:pPr>
              <a:spcAft>
                <a:spcPts val="800"/>
              </a:spcAft>
              <a:defRPr sz="900" i="1">
                <a:solidFill>
                  <a:srgbClr val="64748B"/>
                </a:solidFill>
              </a:defRPr>
            </a:pPr>
            <a:r>
              <a:t>Captures packet stream or flow records.</a:t>
            </a:r>
          </a:p>
          <a:p>
            <a:pPr>
              <a:spcAft>
                <a:spcPts val="400"/>
              </a:spcAft>
              <a:defRPr sz="900">
                <a:solidFill>
                  <a:srgbClr val="0F172A"/>
                </a:solidFill>
              </a:defRPr>
            </a:pPr>
            <a:r>
              <a:t>• 5-Tuple extraction</a:t>
            </a:r>
          </a:p>
          <a:p>
            <a:pPr>
              <a:spcAft>
                <a:spcPts val="400"/>
              </a:spcAft>
              <a:defRPr sz="900">
                <a:solidFill>
                  <a:srgbClr val="0F172A"/>
                </a:solidFill>
              </a:defRPr>
            </a:pPr>
            <a:r>
              <a:t>• Ingests 78-dimensional flow vector</a:t>
            </a:r>
          </a:p>
          <a:p>
            <a:pPr>
              <a:spcAft>
                <a:spcPts val="400"/>
              </a:spcAft>
              <a:defRPr sz="900">
                <a:solidFill>
                  <a:srgbClr val="0F172A"/>
                </a:solidFill>
              </a:defRPr>
            </a:pPr>
            <a:r>
              <a:t>• Handles bidirectional and unidirectional traffic</a:t>
            </a:r>
          </a:p>
          <a:p>
            <a:pPr>
              <a:spcAft>
                <a:spcPts val="400"/>
              </a:spcAft>
              <a:defRPr sz="900">
                <a:solidFill>
                  <a:srgbClr val="0F172A"/>
                </a:solidFill>
              </a:defRPr>
            </a:pPr>
            <a:r>
              <a:t>• Models operational degradation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371600"/>
            <a:ext cx="20116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35808" y="1508760"/>
            <a:ext cx="1792224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2563EB"/>
                </a:solidFill>
              </a:defRPr>
            </a:pPr>
            <a:r>
              <a:t>STAGE 2: Telemetry Quality Monitor</a:t>
            </a:r>
          </a:p>
          <a:p>
            <a:pPr>
              <a:spcAft>
                <a:spcPts val="800"/>
              </a:spcAft>
              <a:defRPr sz="900" i="1">
                <a:solidFill>
                  <a:srgbClr val="64748B"/>
                </a:solidFill>
              </a:defRPr>
            </a:pPr>
            <a:r>
              <a:t>Computes real-time Quality Score Q(t).</a:t>
            </a:r>
          </a:p>
          <a:p>
            <a:pPr>
              <a:spcAft>
                <a:spcPts val="400"/>
              </a:spcAft>
              <a:defRPr sz="900">
                <a:solidFill>
                  <a:srgbClr val="0F172A"/>
                </a:solidFill>
              </a:defRPr>
            </a:pPr>
            <a:r>
              <a:t>• Feature Completeness C(t)</a:t>
            </a:r>
          </a:p>
          <a:p>
            <a:pPr>
              <a:spcAft>
                <a:spcPts val="400"/>
              </a:spcAft>
              <a:defRPr sz="900">
                <a:solidFill>
                  <a:srgbClr val="0F172A"/>
                </a:solidFill>
              </a:defRPr>
            </a:pPr>
            <a:r>
              <a:t>• Physical Invariant Consistency S(t)</a:t>
            </a:r>
          </a:p>
          <a:p>
            <a:pPr>
              <a:spcAft>
                <a:spcPts val="400"/>
              </a:spcAft>
              <a:defRPr sz="900">
                <a:solidFill>
                  <a:srgbClr val="0F172A"/>
                </a:solidFill>
              </a:defRPr>
            </a:pPr>
            <a:r>
              <a:t>• Formula: Q(t) = 0.70·C(t) + 0.30·S(t)</a:t>
            </a:r>
          </a:p>
          <a:p>
            <a:pPr>
              <a:spcAft>
                <a:spcPts val="400"/>
              </a:spcAft>
              <a:defRPr sz="900">
                <a:solidFill>
                  <a:srgbClr val="0F172A"/>
                </a:solidFill>
              </a:defRPr>
            </a:pPr>
            <a:r>
              <a:t>• Bounded health metric [0.0, 1.0]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371600"/>
            <a:ext cx="20116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30368" y="1508760"/>
            <a:ext cx="1792224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2563EB"/>
                </a:solidFill>
              </a:defRPr>
            </a:pPr>
            <a:r>
              <a:t>STAGE 3: Dynamic Mode Arbiter</a:t>
            </a:r>
          </a:p>
          <a:p>
            <a:pPr>
              <a:spcAft>
                <a:spcPts val="800"/>
              </a:spcAft>
              <a:defRPr sz="900" i="1">
                <a:solidFill>
                  <a:srgbClr val="64748B"/>
                </a:solidFill>
              </a:defRPr>
            </a:pPr>
            <a:r>
              <a:t>Stateful tier selection with Hysteresis.</a:t>
            </a:r>
          </a:p>
          <a:p>
            <a:pPr>
              <a:spcAft>
                <a:spcPts val="400"/>
              </a:spcAft>
              <a:defRPr sz="900">
                <a:solidFill>
                  <a:srgbClr val="0F172A"/>
                </a:solidFill>
              </a:defRPr>
            </a:pPr>
            <a:r>
              <a:t>• Thresholds: τ_high=0.80, τ_low=0.40</a:t>
            </a:r>
          </a:p>
          <a:p>
            <a:pPr>
              <a:spcAft>
                <a:spcPts val="400"/>
              </a:spcAft>
              <a:defRPr sz="900">
                <a:solidFill>
                  <a:srgbClr val="0F172A"/>
                </a:solidFill>
              </a:defRPr>
            </a:pPr>
            <a:r>
              <a:t>• Enforces ±0.05 buffer against flapping</a:t>
            </a:r>
          </a:p>
          <a:p>
            <a:pPr>
              <a:spcAft>
                <a:spcPts val="400"/>
              </a:spcAft>
              <a:defRPr sz="900">
                <a:solidFill>
                  <a:srgbClr val="0F172A"/>
                </a:solidFill>
              </a:defRPr>
            </a:pPr>
            <a:r>
              <a:t>• Zero-delay O(1) memory dispatch</a:t>
            </a:r>
          </a:p>
          <a:p>
            <a:pPr>
              <a:spcAft>
                <a:spcPts val="400"/>
              </a:spcAft>
              <a:defRPr sz="900">
                <a:solidFill>
                  <a:srgbClr val="0F172A"/>
                </a:solidFill>
              </a:defRPr>
            </a:pPr>
            <a:r>
              <a:t>• Dispatches to optimal prevalidated mode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9" y="1371600"/>
            <a:ext cx="20116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24927" y="1508760"/>
            <a:ext cx="1792224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2563EB"/>
                </a:solidFill>
              </a:defRPr>
            </a:pPr>
            <a:r>
              <a:t>STAGE 4: Multi-Mode Detection Zoo</a:t>
            </a:r>
          </a:p>
          <a:p>
            <a:pPr>
              <a:spcAft>
                <a:spcPts val="800"/>
              </a:spcAft>
              <a:defRPr sz="900" i="1">
                <a:solidFill>
                  <a:srgbClr val="64748B"/>
                </a:solidFill>
              </a:defRPr>
            </a:pPr>
            <a:r>
              <a:t>Hierarchical threat classification.</a:t>
            </a:r>
          </a:p>
          <a:p>
            <a:pPr>
              <a:spcAft>
                <a:spcPts val="400"/>
              </a:spcAft>
              <a:defRPr sz="900">
                <a:solidFill>
                  <a:srgbClr val="0F172A"/>
                </a:solidFill>
              </a:defRPr>
            </a:pPr>
            <a:r>
              <a:t>• Mode 1: Full 78-feature ML (Q &gt;= 0.80)</a:t>
            </a:r>
          </a:p>
          <a:p>
            <a:pPr>
              <a:spcAft>
                <a:spcPts val="400"/>
              </a:spcAft>
              <a:defRPr sz="900">
                <a:solidFill>
                  <a:srgbClr val="0F172A"/>
                </a:solidFill>
              </a:defRPr>
            </a:pPr>
            <a:r>
              <a:t>• Mode 2: Reduced 16-feature ML (0.40 &lt;= Q &lt; 0.80)</a:t>
            </a:r>
          </a:p>
          <a:p>
            <a:pPr>
              <a:spcAft>
                <a:spcPts val="400"/>
              </a:spcAft>
              <a:defRPr sz="900">
                <a:solidFill>
                  <a:srgbClr val="0F172A"/>
                </a:solidFill>
              </a:defRPr>
            </a:pPr>
            <a:r>
              <a:t>• Mode 3: Deterministic Fallback Rules (&lt;5 µs)</a:t>
            </a:r>
          </a:p>
          <a:p>
            <a:pPr>
              <a:spcAft>
                <a:spcPts val="400"/>
              </a:spcAft>
              <a:defRPr sz="900">
                <a:solidFill>
                  <a:srgbClr val="0F172A"/>
                </a:solidFill>
              </a:defRPr>
            </a:pPr>
            <a:r>
              <a:t>• High F1 retention under sensor failure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60" y="1371600"/>
            <a:ext cx="20116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19488" y="1508760"/>
            <a:ext cx="1792224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2563EB"/>
                </a:solidFill>
              </a:defRPr>
            </a:pPr>
            <a:r>
              <a:t>STAGE 5: Adaptive Mitigation Engine</a:t>
            </a:r>
          </a:p>
          <a:p>
            <a:pPr>
              <a:spcAft>
                <a:spcPts val="800"/>
              </a:spcAft>
              <a:defRPr sz="900" i="1">
                <a:solidFill>
                  <a:srgbClr val="64748B"/>
                </a:solidFill>
              </a:defRPr>
            </a:pPr>
            <a:r>
              <a:t>Automated line-rate threat containment.</a:t>
            </a:r>
          </a:p>
          <a:p>
            <a:pPr>
              <a:spcAft>
                <a:spcPts val="400"/>
              </a:spcAft>
              <a:defRPr sz="900">
                <a:solidFill>
                  <a:srgbClr val="0F172A"/>
                </a:solidFill>
              </a:defRPr>
            </a:pPr>
            <a:r>
              <a:t>• Volumetric (DDoS): Hard IP Quarantine</a:t>
            </a:r>
          </a:p>
          <a:p>
            <a:pPr>
              <a:spcAft>
                <a:spcPts val="400"/>
              </a:spcAft>
              <a:defRPr sz="900">
                <a:solidFill>
                  <a:srgbClr val="0F172A"/>
                </a:solidFill>
              </a:defRPr>
            </a:pPr>
            <a:r>
              <a:t>• Recon (PortScan): Token-bucket rate limit</a:t>
            </a:r>
          </a:p>
          <a:p>
            <a:pPr>
              <a:spcAft>
                <a:spcPts val="400"/>
              </a:spcAft>
              <a:defRPr sz="900">
                <a:solidFill>
                  <a:srgbClr val="0F172A"/>
                </a:solidFill>
              </a:defRPr>
            </a:pPr>
            <a:r>
              <a:t>• Generates Linux iptables &amp; Win PowerShell rules</a:t>
            </a:r>
          </a:p>
          <a:p>
            <a:pPr>
              <a:spcAft>
                <a:spcPts val="400"/>
              </a:spcAft>
              <a:defRPr sz="900">
                <a:solidFill>
                  <a:srgbClr val="0F172A"/>
                </a:solidFill>
              </a:defRPr>
            </a:pPr>
            <a:r>
              <a:t>• Live Quarantine ledger &amp; active blocklist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623560"/>
            <a:ext cx="10728655" cy="7772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71500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2563EB"/>
                </a:solidFill>
              </a:defRPr>
            </a:pPr>
            <a:r>
              <a:t>PIPELINE FLOW:  Raw Ingested Flow ──► Telemetry Quality Assessment Q(t) ──► Mode Arbiter (Hysteresis) ──► Mode 1 / Mode 2 / Mode 3 ──► Adaptive Mitigation (Firewall / Token Bucket)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MATHEMATICAL MODEL &amp;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Model Description: Tri-Mode Hierarchy &amp; Quality Formulation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563EB"/>
                </a:solidFill>
              </a:defRPr>
            </a:pPr>
            <a:r>
              <a:t>1. TELEMETRY QUALITY MONITORING (TQM)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Observation Vector Formulation:</a:t>
            </a:r>
          </a:p>
          <a:p>
            <a:pPr>
              <a:spcAft>
                <a:spcPts val="500"/>
              </a:spcAft>
              <a:defRPr sz="950">
                <a:solidFill>
                  <a:srgbClr val="64748B"/>
                </a:solidFill>
              </a:defRPr>
            </a:pPr>
            <a:r>
              <a:t>x(t) = m(t) ⊙ x*(t) + ε(t), where m(t) ∈ {0, 1}^D is the binary feature observability mask, and ε(t) denotes timestamp and measurement jitter.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Feature Completeness C(t):</a:t>
            </a:r>
          </a:p>
          <a:p>
            <a:pPr>
              <a:spcAft>
                <a:spcPts val="500"/>
              </a:spcAft>
              <a:defRPr sz="950">
                <a:solidFill>
                  <a:srgbClr val="64748B"/>
                </a:solidFill>
              </a:defRPr>
            </a:pPr>
            <a:r>
              <a:t>C(t) = (1 / ∑ w_i) ∑ w_i · m_i(t), prioritizing Layer 3/4 immutable header attributes (w_i = 1.0) over volatile inter-arrival statistics (w_i = 0.5).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Physical Invariant Consistency S(t):</a:t>
            </a:r>
          </a:p>
          <a:p>
            <a:pPr>
              <a:spcAft>
                <a:spcPts val="500"/>
              </a:spcAft>
              <a:defRPr sz="950">
                <a:solidFill>
                  <a:srgbClr val="64748B"/>
                </a:solidFill>
              </a:defRPr>
            </a:pPr>
            <a:r>
              <a:t>S(t) validates fundamental network laws: Duration &gt; 0, Packet Lengths bounded by MTU (1500 bytes), Flow Bytes/s matching packet products, and TCP flag correlation (SYN without ACK for floods).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Composite Quality Score Q(t):</a:t>
            </a:r>
          </a:p>
          <a:p>
            <a:pPr>
              <a:spcAft>
                <a:spcPts val="500"/>
              </a:spcAft>
              <a:defRPr sz="950">
                <a:solidFill>
                  <a:srgbClr val="64748B"/>
                </a:solidFill>
              </a:defRPr>
            </a:pPr>
            <a:r>
              <a:t>Q(t) = 0.70 · C(t) + 0.30 · S(t)  ∈ [0.0, 1.0]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Hysteresis Band (±0.05 Buffer):</a:t>
            </a:r>
          </a:p>
          <a:p>
            <a:pPr>
              <a:spcAft>
                <a:spcPts val="500"/>
              </a:spcAft>
              <a:defRPr sz="950">
                <a:solidFill>
                  <a:srgbClr val="64748B"/>
                </a:solidFill>
              </a:defRPr>
            </a:pPr>
            <a:r>
              <a:t>Mode transitions require crossing buffered boundaries:</a:t>
            </a:r>
            <a:br/>
            <a:r>
              <a:t>• Mode 1: Retained while Q(t) &gt;= 0.75</a:t>
            </a:r>
            <a:br/>
            <a:r>
              <a:t>• Mode 2: Promoted if Q(t) &gt;= 0.80; Demoted if Q(t) &lt; 0.35</a:t>
            </a:r>
            <a:br/>
            <a:r>
              <a:t>• Mode 3: Engaged when Q(t) &lt; 0.40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563EB"/>
                </a:solidFill>
              </a:defRPr>
            </a:pPr>
            <a:r>
              <a:t>2. PREVALIDATED TRI-MODE DETECTION ZOO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MODE 1: Full-Feature ML (78 Features)</a:t>
            </a:r>
          </a:p>
          <a:p>
            <a:pPr>
              <a:defRPr sz="900" i="1">
                <a:solidFill>
                  <a:srgbClr val="2563EB"/>
                </a:solidFill>
              </a:defRPr>
            </a:pPr>
            <a:r>
              <a:t>High-Fidelity Regime (Q &gt;= 0.80)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• Architecture: Tuned Random Forest (100 estimators, max depth 15).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• Operates on full bidirectional flow metrics, IAT distributions, and subflow features.</a:t>
            </a:r>
          </a:p>
          <a:p>
            <a:pPr>
              <a:spcAft>
                <a:spcPts val="500"/>
              </a:spcAft>
              <a:defRPr sz="900">
                <a:solidFill>
                  <a:srgbClr val="64748B"/>
                </a:solidFill>
              </a:defRPr>
            </a:pPr>
            <a:r>
              <a:t>• Accuracy: 1.0000 Macro F1 on pristine telemetry.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MODE 2: Degraded L3/L4 ML (16 Features)</a:t>
            </a:r>
          </a:p>
          <a:p>
            <a:pPr>
              <a:defRPr sz="900" i="1">
                <a:solidFill>
                  <a:srgbClr val="2563EB"/>
                </a:solidFill>
              </a:defRPr>
            </a:pPr>
            <a:r>
              <a:t>Resilient Header Regime (0.40 &lt;= Q &lt; 0.80)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• Architecture: Reduced Random Forest trained strictly on forward immutable header counters (Dest Port, Fwd Pkts, Fwd Bytes, TCP Flags).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• Immune to asymmetric routing and line-rate sampling.</a:t>
            </a:r>
          </a:p>
          <a:p>
            <a:pPr>
              <a:spcAft>
                <a:spcPts val="500"/>
              </a:spcAft>
              <a:defRPr sz="900">
                <a:solidFill>
                  <a:srgbClr val="64748B"/>
                </a:solidFill>
              </a:defRPr>
            </a:pPr>
            <a:r>
              <a:t>• Retains 0.9551 F1 where static models collapse to 0.6269.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MODE 3: Deterministic Fallback Rules (4 Signals)</a:t>
            </a:r>
          </a:p>
          <a:p>
            <a:pPr>
              <a:defRPr sz="900" i="1">
                <a:solidFill>
                  <a:srgbClr val="2563EB"/>
                </a:solidFill>
              </a:defRPr>
            </a:pPr>
            <a:r>
              <a:t>Hardware Starvation Regime (Q &lt; 0.40)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• Architecture: Algorithmic volumetric rule engine executing in &lt;5 µs.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• Evaluates hardware counters: Flow Packets/s, Flow Bytes/s, SYN Count, ACK Count.</a:t>
            </a:r>
          </a:p>
          <a:p>
            <a:pPr>
              <a:spcAft>
                <a:spcPts val="500"/>
              </a:spcAft>
              <a:defRPr sz="900">
                <a:solidFill>
                  <a:srgbClr val="64748B"/>
                </a:solidFill>
              </a:defRPr>
            </a:pPr>
            <a:r>
              <a:t>• Prevents total system blindness during severe switch starvation.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AUTOMATED THREAT MITIGATION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Dual-Action Adaptive Prevention &amp; Firewall Integration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393192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DC2626"/>
                </a:solidFill>
              </a:defRPr>
            </a:pPr>
            <a:r>
              <a:t>ACTION 1: HARD IP QUARANTINE (HIGH SEVERITY)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Target Threats: DDoS LOIC-HTTP Floods, Volumetric SYN Floods, Brute-Force SSH/RDP.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Mechanism: Dynamically blacklists the offending Source IP for 30 minutes (1800s expiration timer) across kernel firewalls.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Linux Command: iptables -A INPUT -s &lt;src_ip&gt; -j DROP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Windows Command: New-NetFirewallRule -DisplayName 'TIDPS_Block_&lt;src_ip&gt;' -Direction Inbound -Action Block -RemoteAddress &lt;src_ip&gt;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Result: Stops bandwidth exhaustion at line-rate without human intervention.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3931920"/>
          </a:xfrm>
          <a:prstGeom prst="roundRect">
            <a:avLst/>
          </a:prstGeom>
          <a:solidFill>
            <a:srgbClr val="FEF9C3"/>
          </a:solidFill>
          <a:ln w="19050">
            <a:solidFill>
              <a:srgbClr val="FDE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EA580C"/>
                </a:solidFill>
              </a:defRPr>
            </a:pPr>
            <a:r>
              <a:t>ACTION 2: TOKEN-BUCKET RATE LIMITING (MEDIUM SEVERITY)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Target Threats: PortScan (Horizontal &amp; Vertical Probing), Slowloris, Reconnaissance.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Problem with Hard Drop: Reconnaissance often originates from shared university NAT gateways or mobile carrier IPs. Hard IP quarantine would block thousands of innocent students!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Adaptive Solution: Applies token-bucket rate limiting (5 packets/second) to the specific flow 5-tuple.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Linux TC Rule: tc qdisc add dev eth0 root handle 1: cbq bandwidth 100Mbit ...</a:t>
            </a:r>
          </a:p>
          <a:p>
            <a:pPr>
              <a:spcAft>
                <a:spcPts val="400"/>
              </a:spcAft>
              <a:defRPr sz="1000">
                <a:solidFill>
                  <a:srgbClr val="0F172A"/>
                </a:solidFill>
              </a:defRPr>
            </a:pPr>
            <a:r>
              <a:t>• Result: Renders reconnaissance probes computationally useless while preserving legitimate shared traffic.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40680"/>
            <a:ext cx="10728655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532120"/>
            <a:ext cx="10241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REAL-TIME INCIDENT LEDGER &amp; SYNCHRONIZATION:</a:t>
            </a:r>
          </a:p>
          <a:p>
            <a:pPr>
              <a:defRPr sz="1000">
                <a:solidFill>
                  <a:srgbClr val="0F172A"/>
                </a:solidFill>
              </a:defRPr>
            </a:pPr>
            <a:r>
              <a:t>All security actions are committed to an immutable real-time ledger synchronized in Indian Standard Time (IST), displaying Source IP, Threat Classification, Triggered Mode, Action Taken, and live PowerShell / iptables execution blocks.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EMPIRICAL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Experimental Benchmarks on CIC-IDS2017 (3,750 Flows)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80160"/>
          <a:ext cx="107286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280160"/>
                <a:gridCol w="1280160"/>
                <a:gridCol w="1463040"/>
                <a:gridCol w="1463040"/>
                <a:gridCol w="1280160"/>
                <a:gridCol w="1493215"/>
              </a:tblGrid>
              <a:tr h="585216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Architecture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L0 (Clean)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L1 (Mild)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L2 (Asymmetric)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L3 (Starvation)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Avg Latency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DCM Score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Static Full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0.6269 (Cliff)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0.0787 (Collapse)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0.005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0.6889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Imputation + Full Model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0.9991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0.1659 (99% Miss)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0.1639 (100% Miss)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28.400 ms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0.5227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Feature-Dropout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0.9995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0.7322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0.004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0F172A"/>
                          </a:solidFill>
                        </a:defRPr>
                      </a:pPr>
                      <a:r>
                        <a:t>0.9520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2563EB"/>
                          </a:solidFill>
                        </a:defRPr>
                      </a:pPr>
                      <a:r>
                        <a:t>Proposed TIDPS (Ours)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0.9551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0.4506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0.005 ms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0.8843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20" y="4434840"/>
            <a:ext cx="10728655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4526280"/>
            <a:ext cx="10241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563EB"/>
                </a:solidFill>
              </a:defRPr>
            </a:pPr>
            <a:r>
              <a:t>CORE EMPIRICAL FINDINGS &amp; DEFENSE ARGUMENTS:</a:t>
            </a:r>
          </a:p>
          <a:p>
            <a:pPr>
              <a:spcAft>
                <a:spcPts val="300"/>
              </a:spcAft>
              <a:defRPr sz="1000">
                <a:solidFill>
                  <a:srgbClr val="0F172A"/>
                </a:solidFill>
              </a:defRPr>
            </a:pPr>
            <a:r>
              <a:t>• Elimination of Performance Cliff: Under Level 2 (Asymmetric Routing), conventional static NIDS drops to 0.6269 F1. Proposed TIDPS seamlessly transitions to Mode 2 and achieves 0.9551 F1 with only 1.05% missed attacks.</a:t>
            </a:r>
          </a:p>
          <a:p>
            <a:pPr>
              <a:spcAft>
                <a:spcPts val="300"/>
              </a:spcAft>
              <a:defRPr sz="1000">
                <a:solidFill>
                  <a:srgbClr val="0F172A"/>
                </a:solidFill>
              </a:defRPr>
            </a:pPr>
            <a:r>
              <a:t>• Catastrophic Imputation Failure: Imputation algorithms like KNN/Mean achieve only 0.1659 F1 under asymmetric routing, missing 99.91% of attacks because hallucinated features trick the model. Furthermore, imputation adds 28.4 ms latency, crashing line-rate throughput.</a:t>
            </a:r>
          </a:p>
          <a:p>
            <a:pPr>
              <a:spcAft>
                <a:spcPts val="300"/>
              </a:spcAft>
              <a:defRPr sz="1000">
                <a:solidFill>
                  <a:srgbClr val="0F172A"/>
                </a:solidFill>
              </a:defRPr>
            </a:pPr>
            <a:r>
              <a:t>• Superior Detection Continuity (DCM): Our proposed architecture achieves a Normalized Detection Continuity Metric of 0.8843, proving resilient operational defense across all failure tiers L0 through L3.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PROTOTYPE &amp; ARTIFACTS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Live Web Deployment &amp; Open-Source Artifacts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563EB"/>
                </a:solidFill>
              </a:defRPr>
            </a:pPr>
            <a:r>
              <a:t>LIVE CLOUD DEMO PROTOTYPE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Public Web Link: https://resilient-nidps.streamlit.app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Hosting Infrastructure: Streamlit Community Cloud (AWS Containerized Engine, 24/7 Global Access).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Live Interactive Controls: Allows evaluators to slide telemetry health Q from 1.0 down to 0.0, witnessing real-time Mode Arbiter transitions and dynamic firewall quarantine ledger updates.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Zero Installation Required: Examiners can test the prototype on any laptop, tablet, or phone without installing Python or packages.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Synchronized IST Ledger: Incident ledger timestamps update in real time with 1-click ledger clearing.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563EB"/>
                </a:solidFill>
              </a:defRPr>
            </a:pPr>
            <a:r>
              <a:t>OPEN-SOURCE CODEBASE &amp; PAPERS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GitHub Repository: https://github.com/THARAKESHA/resilient-nidps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Research Paper Draft: Full IEEE Conference paper draft completed (manuscript.tex, references.bib, and compiled PDF).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Formally Calibrated Generator: Full 78-feature statistical mathematical generator matching CICFlowMeter formulas.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One-Click Launchers: Provided with run_app.bat (Windows) and run_app.sh (Linux).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Pretrained Weights: Saved checkpoints for Mode 1, Mode 2, Mode 3, and Baselines stored in src/saved_models/.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PROJECT MILESTONES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Review 1 Accomplishments &amp; Future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6A34A"/>
                </a:solidFill>
              </a:defRPr>
            </a:pPr>
            <a:r>
              <a:t>REVIEW 1: COMPLETED DELIVERABLES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✔ Problem Formulation: Defined telemetry degradation physics &amp; failure models (L0 to L3).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✔ Literature Survey: Comparative review across 4 major foundational baselines &amp; datasets.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✔ Mathematical Formulation: Designed TQM Quality score Q(t) and Mode Arbiter with ±0.05 hysteresis.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✔ Model Zoo Implementation: Trained Mode 1 (78 feat), Mode 2 (16 feat), and Mode 3 (Deterministic rules).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✔ Empirical Benchmarking: Evaluated 3,750 test flows, proving 0.8843 DCM retention.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✔ Working Prototype &amp; Deployment: Deployed live web UI on Streamlit Cloud &amp; published GitHub repository.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5448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563EB"/>
                </a:solidFill>
              </a:defRPr>
            </a:pPr>
            <a:r>
              <a:t>ROADMAP TO REVIEW 2 &amp; FINAL DEFENSE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➤ Review 2: Hardware Testbed Emulation: Interface TIDPS with eBPF / XDP kernel probes or Mininet virtual network topologies for raw packet flow extraction.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➤ Review 2: Live Network Sniffing: Add raw socket packet capture engine for real-time LAN threat detection.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➤ Review 2: Adversarial Robustness: Evaluate defense resilience against adversarial telemetry evasion attacks.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➤ Review 3: Hardware Acceleration: Prototype Mode 3 rule execution in P4 programmable switches or SmartNICs for true multi-gigabit throughput.</a:t>
            </a:r>
          </a:p>
          <a:p>
            <a:pPr>
              <a:spcAft>
                <a:spcPts val="500"/>
              </a:spcAft>
              <a:defRPr sz="1000">
                <a:solidFill>
                  <a:srgbClr val="0F172A"/>
                </a:solidFill>
              </a:defRPr>
            </a:pPr>
            <a:r>
              <a:t>➤ Final Review: Conference Submission: Submit manuscript to IEEE International Conference on Cyber Security &amp; Networking.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289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EA5E9"/>
                </a:solidFill>
              </a:defRPr>
            </a:pPr>
            <a:r>
              <a:t>RESEARCH DEFENSE • REVIEW 1</a:t>
            </a:r>
          </a:p>
          <a:p>
            <a:pPr>
              <a:spcAft>
                <a:spcPts val="1000"/>
              </a:spcAft>
              <a:defRPr sz="36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>
              <a:spcAft>
                <a:spcPts val="2000"/>
              </a:spcAft>
              <a:defRPr sz="1800">
                <a:solidFill>
                  <a:srgbClr val="94A3B8"/>
                </a:solidFill>
              </a:defRPr>
            </a:pPr>
            <a:r>
              <a:t>Questions &amp; Faculty Committee Discussion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474720"/>
            <a:ext cx="10362895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657600"/>
            <a:ext cx="97840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0EA5E9"/>
                </a:solidFill>
              </a:defRPr>
            </a:pPr>
            <a:r>
              <a:t>PROJECT DELIVERABLE LINKS &amp; REPOSITORIES:</a:t>
            </a:r>
          </a:p>
          <a:p>
            <a:pPr>
              <a:spcAft>
                <a:spcPts val="400"/>
              </a:spcAft>
              <a:defRPr sz="1100">
                <a:solidFill>
                  <a:srgbClr val="E2E8F0"/>
                </a:solidFill>
              </a:defRPr>
            </a:pPr>
            <a:r>
              <a:t>🌐 Live Cloud Web Demo: https://resilient-nidps.streamlit.app</a:t>
            </a:r>
          </a:p>
          <a:p>
            <a:pPr>
              <a:spcAft>
                <a:spcPts val="400"/>
              </a:spcAft>
              <a:defRPr sz="1100">
                <a:solidFill>
                  <a:srgbClr val="E2E8F0"/>
                </a:solidFill>
              </a:defRPr>
            </a:pPr>
            <a:r>
              <a:t>💻 GitHub Codebase: https://github.com/THARAKESHA/resilient-nidps</a:t>
            </a:r>
          </a:p>
          <a:p>
            <a:pPr>
              <a:spcAft>
                <a:spcPts val="400"/>
              </a:spcAft>
              <a:defRPr sz="1100">
                <a:solidFill>
                  <a:srgbClr val="E2E8F0"/>
                </a:solidFill>
              </a:defRPr>
            </a:pPr>
            <a:r>
              <a:t>📄 Research Paper Draft: Telemetry_Aware_Resilient_NIDPS_Research_Paper_Draft.pdf</a:t>
            </a:r>
          </a:p>
          <a:p>
            <a:pPr>
              <a:spcAft>
                <a:spcPts val="400"/>
              </a:spcAft>
              <a:defRPr sz="1100">
                <a:solidFill>
                  <a:srgbClr val="E2E8F0"/>
                </a:solidFill>
              </a:defRPr>
            </a:pPr>
            <a:r>
              <a:t>👥 Team: THARAKESHA.M (24BCE2538) &amp; BHARAT (24BCB0056) • Dept. of CSE, VIT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