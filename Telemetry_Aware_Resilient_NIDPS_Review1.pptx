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628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EA5E9"/>
                </a:solidFill>
              </a:defRPr>
            </a:pPr>
            <a:r>
              <a:t>CAPSTONE / RESEARCH DEFENSE • REVIEW 1 PRESENTATION</a:t>
            </a:r>
          </a:p>
          <a:p>
            <a:pPr>
              <a:spcAft>
                <a:spcPts val="1000"/>
              </a:spcAft>
              <a:defRPr sz="3000" b="1">
                <a:solidFill>
                  <a:srgbClr val="FFFFFF"/>
                </a:solidFill>
              </a:defRPr>
            </a:pPr>
            <a:r>
              <a:t>Resilient AI-Based Network Intrusion Detection</a:t>
            </a:r>
            <a:br/>
            <a:r>
              <a:t>and Prevention System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Maintaining Detection Continuity via Telemetry-Aware Multi-Mode Arbitration &amp; Intelligent Alerting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50292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TEAM MEMBER 1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THARAKESHA.M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Reg. No: 24BCE2538</a:t>
            </a:r>
            <a:br/>
            <a:r>
              <a:t>School of Computer Science &amp; Engineering (SCOPE)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0292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411480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TEAM MEMBER 2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BHARAT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Reg. No: 24BCB0056</a:t>
            </a:r>
            <a:br/>
            <a:r>
              <a:t>School of Computer Science &amp; Engineering (SCOPE)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806440"/>
            <a:ext cx="10362895" cy="594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89788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Vellore Institute of Technology (VIT), Vellore • Live Demo: https://resilient-nidps.streamlit.app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Abstract: Resilient Multi-Mode Intrusion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</a:defRPr>
            </a:pPr>
            <a:r>
              <a:t>RESEARCH SUMMARY &amp; VALUE PROPOSITION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Modern Machine Learning-based Network Intrusion Detection Systems (ML-NIDS) achieve high accuracy (&gt;99%) in pristine offline datasets such as CIC-IDS2017. However, during real-world operational deployments, telemetry severely degrades due to asymmetric routing, line-rate packet sampling, sensor starvation, and TLS encryption, causing standard ML models to suffer a catastrophic 'Performance Cliff' where accuracy plunges to 30%-45%.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To solve this problem, we propose TIDPS (Telemetry-Aware Resilient NIDPS), a real-time fault-tolerant architecture that continuously evaluates telemetry quality Q(t) via feature completeness C(t) and physical invariant consistency S(t). A hysteresis-buffered Mode Arbiter dynamically dispatches flows across a prevalidated tri-mode detection hierarchy: Mode 1 (Full 78-feature ML), Mode 2 (Reduced 16-feature L3/L4 ML), and Mode 3 (Sub-5µs Deterministic Volumetric Invariant Rules). Threats are mitigated using dual-action adaptive responses: IP quarantine for volumetric floods and token-bucket rate-limiting for reconnaissance, implemented natively via Linux iptables and Windows PowerShell.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3413455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THE CHALLENGE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Catastrophic Accuracy Cliff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ML models crash when telemetry drops backward flows or inter-arrival timings.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480560"/>
            <a:ext cx="3413455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61772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THE SOLUTION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Tri-Mode Dynamic Arbiter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Dynamically routes flows between Full ML, Degraded ML, and Deterministic Rules with hysteresis.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480560"/>
            <a:ext cx="3413455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61772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THE IMPACT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Continuous Zero-Latency Defense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Retains 0.8843 DCM and 0.9551 F1 under asymmetric routing with &lt;0.011 ms inference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MOTIVATION &amp; 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Statement: The Telemetry Fallacy in ML-NIDS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C2626"/>
                </a:solidFill>
              </a:defRPr>
            </a:pPr>
            <a:r>
              <a:t>PHYSICAL CAUSES OF TELEMETRY COLLAPSE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1. Asymmetric Routing (Return Path Missing)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In ISP and enterprise backbones, forward and return packets traverse different physical switches. The sensor sees forward traffic but zero backward features (Bwd Packet Length, Down/Up Ratio vanish).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2. Line-Rate Packet Sampling (1-in-N Sampling)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Under heavy 10G/40G loads, routers invoke sFlow/NetFlow packet sampling, destroying high-precision inter-arrival times (IAT Mean, Std, Min, Max).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3. Sensor Resource Starvation (Buffer Drops)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Volumetric floods overwhelm switch memory buffers, causing flow record drops and hardware-level telemetry degradation.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EA580C"/>
                </a:solidFill>
              </a:defRPr>
            </a:pPr>
            <a:r>
              <a:t>LIMITATIONS OF CONVENTIONAL REMEDIES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Conventional Static ML-NIDS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Models trained on full 78 features assume all inputs are valid. Missing features are fed as zeros, causing accuracy to collapse to 30%-45% (The Performance Cliff).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Real-Time Feature Imputation (Mean / KNN / SVD)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Imputation algorithms introduce excessive computation latency (&gt;28 ms/flow), impossible at line rate, and hallucinate synthetic values that trigger catastrophic false alarms (up to 99% missed attacks).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Feature-Dropout Training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Uniform dropout during training degrades pristine-state detection accuracy and fails under non-random, structured network topological failures.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10728655" cy="8686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2356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EXPLICIT PROBLEM STATEMENT: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How can an AI-based NIDPS maintain unbroken detection continuity, sub-millisecond line-rate latency, and zero false-alarm escalation when operational network telemetry experiences structured feature loss and sensor degradation?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SCOPE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Objectives: Core Milestones &amp;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Objective 1: Telemetry Quality Metric (TQM)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Design and implement a real-time Telemetry Quality Score Q(t) that evaluates both Feature Completeness C(t) and Physical Protocol Invariants S(t) (e.g., Duration &gt; 0, Packet Length &lt;= MTU, Flow Bytes/s consistency).</a:t>
            </a:r>
          </a:p>
          <a:p>
            <a:pPr>
              <a:defRPr sz="900" i="1">
                <a:solidFill>
                  <a:srgbClr val="64748B"/>
                </a:solidFill>
              </a:defRPr>
            </a:pPr>
            <a:r>
              <a:t>Formula: Q(t) = 0.70 · C(t) + 0.30 · S(t) with continuous [0, 1] bounded health grading.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Objective 2: Prevalidated Tri-Mode Detection Hierarchy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Construct a three-tiered model zoo: Mode 1 (Tuned RF on full 78 features), Mode 2 (Reduced RF on 16 immutable Layer 3/4 header counters), and Mode 3 (Deterministic algorithmic volumetric rules executing in &lt;5 µs).</a:t>
            </a:r>
          </a:p>
          <a:p>
            <a:pPr>
              <a:defRPr sz="900" i="1">
                <a:solidFill>
                  <a:srgbClr val="64748B"/>
                </a:solidFill>
              </a:defRPr>
            </a:pPr>
            <a:r>
              <a:t>Guarantees that when telemetry degrades, the system never imputes fake data, but gracefully shifts to prevalidated lower-dimensional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Objective 3: Hysteresis-Buffered Mode Arbiter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Develop a stateful dispatch engine with a ±0.05 hysteresis band around decision thresholds (τ_high = 0.80, τ_low = 0.40) to prevent rapid mode oscillation ('flapping') caused by transient network jitter.</a:t>
            </a:r>
          </a:p>
          <a:p>
            <a:pPr>
              <a:defRPr sz="900" i="1">
                <a:solidFill>
                  <a:srgbClr val="64748B"/>
                </a:solidFill>
              </a:defRPr>
            </a:pPr>
            <a:r>
              <a:t>Prevents system thrashing and ensures smooth transition across degradation tiers.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Objective 4: Cross-Platform Adaptive Mitigation Engine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Formulate dual-action mitigation: Hard IP Quarantine for volumetric attacks (DDoS) vs. Token-Bucket Rate Limiting (5 pkts/s) for reconnaissance probes (protecting shared NATs and college Wi-Fi).</a:t>
            </a:r>
          </a:p>
          <a:p>
            <a:pPr>
              <a:defRPr sz="900" i="1">
                <a:solidFill>
                  <a:srgbClr val="64748B"/>
                </a:solidFill>
              </a:defRPr>
            </a:pPr>
            <a:r>
              <a:t>Native OS integration with automated command generation for Linux (iptables) and Windows PowerShell (New-NetFirewallRule).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3949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Objective 5: Empirical Benchmark &amp; Live Deployment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Evaluate detection continuity on 3,750 flows using the Detection Continuity Metric (DCM). Deploy a live public research dashboard on Streamlit Community Cloud and maintain an open-source GitHub codebase.</a:t>
            </a:r>
          </a:p>
          <a:p>
            <a:pPr>
              <a:defRPr sz="900" i="1">
                <a:solidFill>
                  <a:srgbClr val="64748B"/>
                </a:solidFill>
              </a:defRPr>
            </a:pPr>
            <a:r>
              <a:t>Deliverables: Live URL, IEEE manuscript draft, and reproducible benchmark suite.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Literature Review: Critical Analysis of Related 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834640"/>
                <a:gridCol w="2956255"/>
              </a:tblGrid>
              <a:tr h="80772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Paper Title &amp; Focus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Methodology / Contribution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Identified Research Gap / Limitation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Sharafaldin et al. (2018)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Toward Generating a New Intrusion Detection Dataset (CIC-IDS2017)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Generated comprehensive 78-feature flow dataset with realistic attack profiles.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Assumes 100% complete bidirectional telemetry in laboratory capture; does not account for runtime routing or sampling degradation.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Sommer &amp; Paxson (2010)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Outside the Closed World: On Using ML for Network Intrusion Detection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Foundational IEEE S&amp;P study analyzing why ML models fail when deployed in real networks.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Identified the semantic gap and cost of false positives; provided no mechanism for dynamic adaptation under telemetry loss.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Lin et al. (2021) /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Feature Imputation for Incomplete Network Flows (KNN / SVD / MICE)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Replaces missing features using statistical expectation or nearest-neighbor distance.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Incurs massive 25-30 ms computation delay per flow (unusable at 10G line rate) and hallucinates fake numbers triggering 99% missed attacks.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Srivastava et al. (2014) / Baseline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Dropout: A Simple Way to Prevent Neural Networks from Overfitting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Introduces random feature masking during model training to improve robustness.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Degrades pristine clean-state accuracy; uniform random masking fails when entire structured blocks (all backward metrics) vanish simultaneously.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Proposed TIDPS (This Work)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Telemetry-Aware Multi-Mode Detection with Deterministic Fallback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Continuously scores quality Q(t), shifts dynamically across prevalidated models, and retains deterministic fallback.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Solves all above gaps: Zero imputation delay (0.005 ms), 0.8843 DCM retention, zero false-alarm escalation under sensor failure.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ENGINEERING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Master System Architecture: Complete End-to-End Pipeline Diagram</a:t>
            </a:r>
          </a:p>
        </p:txBody>
      </p:sp>
      <p:pic>
        <p:nvPicPr>
          <p:cNvPr id="4" name="Picture 3" descr="tidps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72865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ARCHITECTURAL PIPELINE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Dataflow &amp; Component Specifications across All 5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08760"/>
            <a:ext cx="17922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2563EB"/>
                </a:solidFill>
              </a:defRPr>
            </a:pPr>
            <a:r>
              <a:t>STAGE 1: Ingestion &amp; Degradation</a:t>
            </a:r>
          </a:p>
          <a:p>
            <a:pPr>
              <a:spcAft>
                <a:spcPts val="800"/>
              </a:spcAft>
              <a:defRPr sz="900" i="1">
                <a:solidFill>
                  <a:srgbClr val="64748B"/>
                </a:solidFill>
              </a:defRPr>
            </a:pPr>
            <a:r>
              <a:t>Captures packet stream or flow records.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5-Tuple extraction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Ingests 78-dimensional flow vector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Simulates L0 (Clean), L1 (Jitter), L2 (Asymmetric), L3 (Starvation)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Handles zero-backward paths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716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35808" y="1508760"/>
            <a:ext cx="17922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2563EB"/>
                </a:solidFill>
              </a:defRPr>
            </a:pPr>
            <a:r>
              <a:t>STAGE 2: Telemetry Quality Monitor</a:t>
            </a:r>
          </a:p>
          <a:p>
            <a:pPr>
              <a:spcAft>
                <a:spcPts val="800"/>
              </a:spcAft>
              <a:defRPr sz="900" i="1">
                <a:solidFill>
                  <a:srgbClr val="64748B"/>
                </a:solidFill>
              </a:defRPr>
            </a:pPr>
            <a:r>
              <a:t>Computes real-time Quality Score Q(t).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Feature Completeness C(t) (weighted sum)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Invariant Consistency S(t) (physical bounds)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Composite Q(t) = 0.70·C(t) + 0.30·S(t)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Output: continuous health grade [0.0, 1.0]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3716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30368" y="1508760"/>
            <a:ext cx="17922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2563EB"/>
                </a:solidFill>
              </a:defRPr>
            </a:pPr>
            <a:r>
              <a:t>STAGE 3: Dynamic Mode Arbiter</a:t>
            </a:r>
          </a:p>
          <a:p>
            <a:pPr>
              <a:spcAft>
                <a:spcPts val="800"/>
              </a:spcAft>
              <a:defRPr sz="900" i="1">
                <a:solidFill>
                  <a:srgbClr val="64748B"/>
                </a:solidFill>
              </a:defRPr>
            </a:pPr>
            <a:r>
              <a:t>Stateful tier selection with Hysteresis.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Thresholds: τ_high=0.80, τ_low=0.40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Enforces ±0.05 buffer against flapping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Zero-delay O(1) memory dispatch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Routes to Mode 1, Mode 2, or Mode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3716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7" y="1508760"/>
            <a:ext cx="17922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2563EB"/>
                </a:solidFill>
              </a:defRPr>
            </a:pPr>
            <a:r>
              <a:t>STAGE 4: Multi-Mode Detection Zoo</a:t>
            </a:r>
          </a:p>
          <a:p>
            <a:pPr>
              <a:spcAft>
                <a:spcPts val="800"/>
              </a:spcAft>
              <a:defRPr sz="900" i="1">
                <a:solidFill>
                  <a:srgbClr val="64748B"/>
                </a:solidFill>
              </a:defRPr>
            </a:pPr>
            <a:r>
              <a:t>Hierarchical threat classification.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Mode 1: Full 78-feature ML (Q &gt;= 0.80)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Mode 2: Reduced 16-feature ML (0.40 &lt;= Q &lt; 0.80)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Mode 3: Deterministic Fallback Rules (&lt;5 µs)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Zero reliance on synthetic imputation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371600"/>
            <a:ext cx="20116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19488" y="1508760"/>
            <a:ext cx="17922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2563EB"/>
                </a:solidFill>
              </a:defRPr>
            </a:pPr>
            <a:r>
              <a:t>STAGE 5: Adaptive Mitigation Engine</a:t>
            </a:r>
          </a:p>
          <a:p>
            <a:pPr>
              <a:spcAft>
                <a:spcPts val="800"/>
              </a:spcAft>
              <a:defRPr sz="900" i="1">
                <a:solidFill>
                  <a:srgbClr val="64748B"/>
                </a:solidFill>
              </a:defRPr>
            </a:pPr>
            <a:r>
              <a:t>Automated line-rate threat containment.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Volumetric (DDoS): Hard IP Quarantine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Recon (PortScan): Token-bucket rate limit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Generates Linux iptables &amp; Win PowerShell rules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Live Quarantine ledger &amp; active blocklist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END-TO-END PIPELINE:  Flow Ingestion ──► TQM Assessment Q(t) ──► Mode Arbiter (Hysteresis) ──► Mode 1 / 2 / 3 ──► Mitigation (IP Drop / Token Bucket)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MATHEMATICAL MODEL &amp;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Model Description: Mathematical Formulation of TQM &amp; Arbiter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</a:defRPr>
            </a:pPr>
            <a:r>
              <a:t>1. TELEMETRY QUALITY MONITORING (TQM)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Observation Vector Formulation: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x(t) = m(t) ⊙ x*(t) + ε(t), where m(t) ∈ {0, 1}^D is the binary feature observability mask, and ε(t) denotes timestamp and measurement jitter.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Feature Completeness C(t):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C(t) = (1 / ∑ w_i) ∑ w_i · m_i(t), prioritizing Layer 3/4 immutable header attributes (w_i = 2.5) over volatile backward inter-arrival statistics (w_i = 0.5).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Physical Invariant Consistency S(t):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S(t) validates fundamental network laws:</a:t>
            </a:r>
            <a:br/>
            <a:r>
              <a:t>1. Total Bytes ≥ Total Packets × 20 (IP Header Minimum)</a:t>
            </a:r>
            <a:br/>
            <a:r>
              <a:t>2. Flow Duration ≥ 0</a:t>
            </a:r>
            <a:br/>
            <a:r>
              <a:t>3. Wire Rate ≤ 1.25 GB/s (10Gbps physical maximum)</a:t>
            </a:r>
            <a:br/>
            <a:r>
              <a:t>4. Valid Destination Port range [1, 65535]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Composite Quality Score Q(t):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Q(t) = 0.70 · C(t) + 0.30 · S(t)  ∈ [0.0, 1.0]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</a:defRPr>
            </a:pPr>
            <a:r>
              <a:t>2. DYNAMIC MODE ARBITER WITH HYSTERESIS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The Mode Flapping Problem: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Near decision boundaries (0.80 and 0.40), microsecond jitter causes rapid mode oscillations, creating system thrashing and false alarms.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Hysteresis Formulation: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Enforces a guard band δ = ±0.05 around thresholds:</a:t>
            </a:r>
            <a:br/>
            <a:r>
              <a:t>• Currently in Mode 1: Stay in Mode 1 unless Q(t) &lt; 0.75.</a:t>
            </a:r>
            <a:br/>
            <a:r>
              <a:t>• Currently in Mode 2: Promoted to Mode 1 only if Q(t) ≥ 0.80; Demoted to Mode 3 only if Q(t) &lt; 0.35.</a:t>
            </a:r>
            <a:br/>
            <a:r>
              <a:t>• Currently in Mode 3: Promoted to Mode 2 only if Q(t) ≥ 0.40.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Zero Latency Memory Pointer Dispatch: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All models remain pre-warmed in memory. Switching modes involves an O(1) function pointer swap executing in under 1 microsecond, avoiding any cold-start latency.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Fail-Safe Guarantee: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If Q(t) experiences a sudden total drop, the Arbiter immediately dispatches to Mode 3 rules without waiting for timer expiration.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MULTI-TIER DETECTION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Model Description: The Prevalidated Tri-Mode Detection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13455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476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MODE 1: FULL-FEATURE ML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High-Fidelity Regime (Q ≥ 0.80)</a:t>
            </a:r>
          </a:p>
          <a:p>
            <a:pPr>
              <a:spcAft>
                <a:spcPts val="800"/>
              </a:spcAft>
              <a:defRPr sz="900" i="1">
                <a:solidFill>
                  <a:srgbClr val="2563EB"/>
                </a:solidFill>
              </a:defRPr>
            </a:pPr>
            <a:r>
              <a:t>Operates on Full 78 Features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Algorithm: Tuned Random Forest (100 estimators, max depth 15).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Features Used: All 78 CIC-IDS2017 features (Forward/Backward packet lengths, IAT distributions, subflows, window flags).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Execution Latency: 0.008 ms per flow.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Performance: 1.0000 Macro F1 on pristine telemetry.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Purpose: Maximum precision classification when sensor and routing are normal.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13455" cy="48463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476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A580C"/>
                </a:solidFill>
              </a:defRPr>
            </a:pPr>
            <a:r>
              <a:t>MODE 2: DEGRADED L3/L4 ML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Resilient Header Regime (0.40 ≤ Q &lt; 0.80)</a:t>
            </a:r>
          </a:p>
          <a:p>
            <a:pPr>
              <a:spcAft>
                <a:spcPts val="800"/>
              </a:spcAft>
              <a:defRPr sz="900" i="1">
                <a:solidFill>
                  <a:srgbClr val="2563EB"/>
                </a:solidFill>
              </a:defRPr>
            </a:pPr>
            <a:r>
              <a:t>Operates on 16 Immutable Header Features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Algorithm: Reduced Random Forest trained strictly on unidirectional forward IP/TCP header fields.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Features Used: Dest Port, Flow Duration, Total Fwd Packets, Fwd Packet Lengths, Header Length, Flow Bytes/s, Flow Pkts/s, TCP Flags.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Immune to: Asymmetric routing and TLS encryption.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Performance: Retains 0.9551 F1 where static models collapse to 0.6269.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Purpose: Line-rate detection under missing return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13455" cy="4846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476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DC2626"/>
                </a:solidFill>
              </a:defRPr>
            </a:pPr>
            <a:r>
              <a:t>MODE 3: DETERMINISTIC FALLBACK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Severe Starvation Regime (Q &lt; 0.40)</a:t>
            </a:r>
          </a:p>
          <a:p>
            <a:pPr>
              <a:spcAft>
                <a:spcPts val="800"/>
              </a:spcAft>
              <a:defRPr sz="900" i="1">
                <a:solidFill>
                  <a:srgbClr val="2563EB"/>
                </a:solidFill>
              </a:defRPr>
            </a:pPr>
            <a:r>
              <a:t>Operates on 4 Volumetric Hardware Counters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Algorithm: Algorithmic volumetric rule engine executing in &lt; 5 µs.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Features Used: Flow Packets/s, Flow Bytes/s, SYN Count, ACK Count.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Threshold Rules: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  - Rule A: pps &gt; 50,000 OR Bytes/s &gt; 10 MB/s (Volumetric DDoS)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  - Rule B: SYN / ACK ratio &gt; 5:1 (SYN Flood)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  - Rule C: Port sweep &gt; 50 ports in &lt; 200 ms (PortScan)</a:t>
            </a:r>
          </a:p>
          <a:p>
            <a:pPr>
              <a:spcAft>
                <a:spcPts val="400"/>
              </a:spcAft>
              <a:defRPr sz="900">
                <a:solidFill>
                  <a:srgbClr val="0F172A"/>
                </a:solidFill>
              </a:defRPr>
            </a:pPr>
            <a:r>
              <a:t>• Purpose: Absolute survivability during switch CPU starvation.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AUTOMATED THREAT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Dual-Action Adaptive Prevention &amp; Firewall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39319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C2626"/>
                </a:solidFill>
              </a:defRPr>
            </a:pPr>
            <a:r>
              <a:t>ACTION 1: HARD IP QUARANTINE (HIGH SEVERITY)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Target Threats: DDoS LOIC-HTTP Floods, Volumetric SYN Floods, Brute-Force SSH/RDP.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Mechanism: Dynamically blacklists the offending Source IP for 30 minutes (1800s expiration timer) across kernel firewalls.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Linux Command: iptables -A INPUT -s &lt;src_ip&gt; -j DROP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Windows Command: New-NetFirewallRule -DisplayName 'TIDPS_Block_&lt;src_ip&gt;' -Direction Inbound -Action Block -RemoteAddress &lt;src_ip&gt;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Result: Stops bandwidth exhaustion at line-rate without human intervention.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393192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A580C"/>
                </a:solidFill>
              </a:defRPr>
            </a:pPr>
            <a:r>
              <a:t>ACTION 2: TOKEN-BUCKET RATE LIMITING (MEDIUM SEVERITY)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Target Threats: PortScan (Horizontal &amp; Vertical Probing), Slowloris, Reconnaissance.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Problem with Hard Drop: Reconnaissance often originates from shared university NAT gateways or mobile carrier IPs. Hard IP quarantine would block thousands of innocent students!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Adaptive Solution: Applies token-bucket rate limiting (5 packets/second) to the specific flow 5-tuple.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Linux TC Rule: tc qdisc add dev eth0 root handle 1: cbq bandwidth 100Mbit ...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Result: Renders reconnaissance probes computationally useless while preserving legitimate shared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40680"/>
            <a:ext cx="10728655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5321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REAL-TIME INCIDENT LEDGER &amp; SYNCHRONIZATION: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All security actions are committed to an immutable real-time ledger synchronized in Indian Standard Time (IST), displaying Source IP, Threat Classification, Triggered Mode, Action Taken, and live PowerShell / iptables execution blocks.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EMPIRICAL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Experimental Benchmarks &amp; Visual Resilience Curves (3,750 Flows)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silienc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493776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62356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Empirical Resilience Curves across Degradation Tiers (L0 to L3)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508760"/>
          <a:ext cx="505937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777240"/>
                <a:gridCol w="777240"/>
                <a:gridCol w="777240"/>
                <a:gridCol w="807415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L0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L1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L3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Static Full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0.6269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0.0787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Imputation + Full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0.9991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0.1659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0.1639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Feature-Dropout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0.9995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0.7322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563EB"/>
                          </a:solidFill>
                        </a:defRPr>
                      </a:pPr>
                      <a:r>
                        <a:t>Proposed TIDPS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0.9551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0.4506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3977639"/>
            <a:ext cx="5059375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2563EB"/>
                </a:solidFill>
              </a:defRPr>
            </a:pPr>
            <a:r>
              <a:t>CORE EMPIRICAL FINDINGS: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No Performance Cliff: TIDPS retains 0.9551 F1 under asymmetric routing where static models collapse to 0.6269.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Imputation Collapse: Imputation misses 99.91% of attacks and adds 28.4 ms delay (unusable at line rate).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Continuity Score: TIDPS achieves DCM = 0.8843 vs 0.6889 for static baseline.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• Inference Latency: Consistent &lt; 0.011 ms line-rate response.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PROTOTYPE &amp;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Live Web Deployment &amp; Open-Source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</a:defRPr>
            </a:pPr>
            <a:r>
              <a:t>LIVE CLOUD DEMO PROTOTYPE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Public Web Link: https://resilient-nidps.streamlit.app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Hosting Infrastructure: Streamlit Community Cloud (AWS Containerized Engine, 24/7 Global Access).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Live Interactive Controls: Allows evaluators to slide telemetry health Q from 1.0 down to 0.0, witnessing real-time Mode Arbiter transitions and dynamic firewall quarantine ledger updates.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Zero Installation Required: Examiners can test the prototype on any laptop, tablet, or phone without installing Python or packages.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Synchronized IST Ledger: Incident ledger timestamps update in real time with 1-click ledger clearing.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</a:defRPr>
            </a:pPr>
            <a:r>
              <a:t>OPEN-SOURCE CODEBASE &amp; PAPERS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GitHub Repository: https://github.com/THARAKESHA/resilient-nidps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Research Paper Draft: Full IEEE Conference paper draft completed (manuscript.tex, references.bib, and compiled PDF).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Formally Calibrated Generator: Full 78-feature statistical mathematical generator matching CICFlowMeter formulas.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One-Click Launchers: Provided with run_app.bat (Windows) and run_app.sh (Linux).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Pretrained Weights: Saved checkpoints for Mode 1, Mode 2, Mode 3, and Baselines stored in src/saved_models/.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Review 1 Accomplishments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6A34A"/>
                </a:solidFill>
              </a:defRPr>
            </a:pPr>
            <a:r>
              <a:t>REVIEW 1: COMPLETED DELIVERABLES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✔ Problem Formulation: Defined telemetry degradation physics &amp; failure models (L0 to L3).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✔ Literature Survey: Comparative review across 4 major foundational baselines &amp; datasets.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✔ Mathematical Formulation: Designed TQM Quality score Q(t) and Mode Arbiter with ±0.05 hysteresis.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✔ Model Zoo Implementation: Trained Mode 1 (78 feat), Mode 2 (16 feat), and Mode 3 (Deterministic rules).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✔ Empirical Benchmarking: Evaluated 3,750 test flows, proving 0.8843 DCM retention.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✔ Working Prototype &amp; Deployment: Deployed live web UI on Streamlit Cloud &amp; published GitHub 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</a:defRPr>
            </a:pPr>
            <a:r>
              <a:t>ROADMAP TO REVIEW 2 &amp; FINAL DEFENSE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➤ Review 2: Hardware Testbed Emulation: Interface TIDPS with eBPF / XDP kernel probes or Mininet virtual network topologies for raw packet flow extraction.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➤ Review 2: Live Network Sniffing: Add raw socket packet capture engine for real-time LAN threat detection.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➤ Review 2: Adversarial Robustness: Evaluate defense resilience against adversarial telemetry evasion attacks.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➤ Review 3: Hardware Acceleration: Prototype Mode 3 rule execution in P4 programmable switches or SmartNICs for true multi-gigabit throughput.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➤ Final Review: Conference Submission: Submit manuscript to IEEE International Conference on Cyber Security &amp; Networking.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SUMMARY &amp; VIVA DEFENSE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Anticipated Faculty Review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</a:defRPr>
            </a:pPr>
            <a:r>
              <a:t>ANTICIPATED REVIEW QUESTIONS &amp; BULLETPROOF ANSWERS:</a:t>
            </a:r>
          </a:p>
          <a:p>
            <a:pPr>
              <a:defRPr sz="1000" b="1">
                <a:solidFill>
                  <a:srgbClr val="EA580C"/>
                </a:solidFill>
              </a:defRPr>
            </a:pPr>
            <a:r>
              <a:t>Q1: Why not just use KNN or Mean Imputation when features are missing?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A1: Imputation algorithms introduce massive 25-30 ms computation delays per flow—which is completely fatal on a 10Gbps line-rate switch where packet budgets are under 1.2 microseconds. Moreover, empirical evaluation shows imputation hallucinates fake numbers, causing a 99.91% missed-attack rate!</a:t>
            </a:r>
          </a:p>
          <a:p>
            <a:pPr>
              <a:defRPr sz="1000" b="1">
                <a:solidFill>
                  <a:srgbClr val="EA580C"/>
                </a:solidFill>
              </a:defRPr>
            </a:pPr>
            <a:r>
              <a:t>Q2: How do you prevent the arbiter from oscillating rapidly when Q fluctuates?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A2: We engineered a stateful Mode Arbiter with a ±0.05 hysteresis band around thresholds (0.80 and 0.40). The system requires sustained proof to promote or demote modes, eliminating flapping caused by temporary packet jitter.</a:t>
            </a:r>
          </a:p>
          <a:p>
            <a:pPr>
              <a:defRPr sz="1000" b="1">
                <a:solidFill>
                  <a:srgbClr val="EA580C"/>
                </a:solidFill>
              </a:defRPr>
            </a:pPr>
            <a:r>
              <a:t>Q3: Does switching between modes add latency to packet processing?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A3: Zero latency! All models (Mode 1, 2, and 3) remain permanently pre-warmed in system memory. Switching modes is an O(1) pointer dispatch taking less than 1 microsecond.</a:t>
            </a:r>
          </a:p>
          <a:p>
            <a:pPr>
              <a:defRPr sz="1000" b="1">
                <a:solidFill>
                  <a:srgbClr val="EA580C"/>
                </a:solidFill>
              </a:defRPr>
            </a:pPr>
            <a:r>
              <a:t>Q4: Why use Token-Bucket Rate Limiting instead of dropping all attack IPs?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A4: Reconnaissance probes (PortScan) frequently originate from shared university NAT gateways or mobile carrier IPs. If we dropped the entire IP, thousands of innocent students would lose internet access. Token-bucket limits the offending flow to 5 pkts/s, nullifying the attack while preserving shared services.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</a:defRPr>
            </a:pPr>
            <a:r>
              <a:t>RESEARCH DEFENSE • REVIEW 1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Questions &amp; Faculty Committee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10362895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9784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</a:defRPr>
            </a:pPr>
            <a:r>
              <a:t>PROJECT DELIVERABLE LINKS &amp; REPOSITORIES: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🌐 Live Cloud Web Demo: https://resilient-nidps.streamlit.app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💻 GitHub Codebase: https://github.com/THARAKESHA/resilient-nidps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📄 Research Paper Draft: Telemetry_Aware_Resilient_NIDPS_Research_Paper_Draft.pdf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👥 Team: THARAKESHA.M (24BCE2538) &amp; BHARAT (24BCB0056) • SCOPE, VIT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