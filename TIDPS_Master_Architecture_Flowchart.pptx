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D4ED8"/>
                </a:solidFill>
              </a:defRPr>
            </a:pPr>
            <a:r>
              <a:t>COMPLETE SYSTEM PIPELINE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Master Architectural Flowchart: End-to-End TIDPS Framework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1755648" cy="516636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44168"/>
            <a:ext cx="1572768" cy="4946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D28D9"/>
                </a:solidFill>
              </a:defRPr>
            </a:pPr>
            <a:r>
              <a:t>STAGE 0: INGESTION</a:t>
            </a:r>
          </a:p>
          <a:p>
            <a:pPr>
              <a:spcAft>
                <a:spcPts val="800"/>
              </a:spcAft>
              <a:defRPr sz="850" i="1">
                <a:solidFill>
                  <a:srgbClr val="64748B"/>
                </a:solidFill>
              </a:defRPr>
            </a:pPr>
            <a:r>
              <a:t>Physical Stressors</a:t>
            </a:r>
          </a:p>
          <a:p>
            <a:pPr>
              <a:defRPr sz="819" b="1">
                <a:solidFill>
                  <a:srgbClr val="6D28D9"/>
                </a:solidFill>
              </a:defRPr>
            </a:pPr>
            <a:r>
              <a:t>• Raw Traffic Stream:</a:t>
            </a:r>
          </a:p>
          <a:p>
            <a:pPr>
              <a:spcAft>
                <a:spcPts val="400"/>
              </a:spcAft>
              <a:defRPr sz="800">
                <a:solidFill>
                  <a:srgbClr val="1E293B"/>
                </a:solidFill>
              </a:defRPr>
            </a:pPr>
            <a:r>
              <a:t>CIC-IDS2017 schema (78 features, 5-tuple).</a:t>
            </a:r>
          </a:p>
          <a:p>
            <a:pPr>
              <a:defRPr sz="819" b="1">
                <a:solidFill>
                  <a:srgbClr val="6D28D9"/>
                </a:solidFill>
              </a:defRPr>
            </a:pPr>
            <a:r>
              <a:t>• L0 (Normal):</a:t>
            </a:r>
          </a:p>
          <a:p>
            <a:pPr>
              <a:spcAft>
                <a:spcPts val="400"/>
              </a:spcAft>
              <a:defRPr sz="800">
                <a:solidFill>
                  <a:srgbClr val="1E293B"/>
                </a:solidFill>
              </a:defRPr>
            </a:pPr>
            <a:r>
              <a:t>Clean bidirectional DPI (Q ≈ 1.0).</a:t>
            </a:r>
          </a:p>
          <a:p>
            <a:pPr>
              <a:defRPr sz="819" b="1">
                <a:solidFill>
                  <a:srgbClr val="6D28D9"/>
                </a:solidFill>
              </a:defRPr>
            </a:pPr>
            <a:r>
              <a:t>• L1 (Mild):</a:t>
            </a:r>
          </a:p>
          <a:p>
            <a:pPr>
              <a:spcAft>
                <a:spcPts val="400"/>
              </a:spcAft>
              <a:defRPr sz="800">
                <a:solidFill>
                  <a:srgbClr val="1E293B"/>
                </a:solidFill>
              </a:defRPr>
            </a:pPr>
            <a:r>
              <a:t>Buffer queuing &amp; IAT timing jitter (Q ≈ 0.85).</a:t>
            </a:r>
          </a:p>
          <a:p>
            <a:pPr>
              <a:defRPr sz="819" b="1">
                <a:solidFill>
                  <a:srgbClr val="6D28D9"/>
                </a:solidFill>
              </a:defRPr>
            </a:pPr>
            <a:r>
              <a:t>• L2 (Moderate):</a:t>
            </a:r>
          </a:p>
          <a:p>
            <a:pPr>
              <a:spcAft>
                <a:spcPts val="400"/>
              </a:spcAft>
              <a:defRPr sz="800">
                <a:solidFill>
                  <a:srgbClr val="1E293B"/>
                </a:solidFill>
              </a:defRPr>
            </a:pPr>
            <a:r>
              <a:t>Asymmetric BGP routing drops 35 backward stats (Q ≈ 0.55).</a:t>
            </a:r>
          </a:p>
          <a:p>
            <a:pPr>
              <a:defRPr sz="819" b="1">
                <a:solidFill>
                  <a:srgbClr val="6D28D9"/>
                </a:solidFill>
              </a:defRPr>
            </a:pPr>
            <a:r>
              <a:t>• L3 (Severe):</a:t>
            </a:r>
          </a:p>
          <a:p>
            <a:pPr>
              <a:spcAft>
                <a:spcPts val="400"/>
              </a:spcAft>
              <a:defRPr sz="800">
                <a:solidFill>
                  <a:srgbClr val="1E293B"/>
                </a:solidFill>
              </a:defRPr>
            </a:pPr>
            <a:r>
              <a:t>DDoS flood &amp; TLS 1.3: DPI stripped, 65% loss (Q &lt; 0.40).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14016" y="1234440"/>
            <a:ext cx="1755648" cy="51663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05456" y="1344168"/>
            <a:ext cx="1572768" cy="4946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D4ED8"/>
                </a:solidFill>
              </a:defRPr>
            </a:pPr>
            <a:r>
              <a:t>STAGE 1: TQM ENGINE</a:t>
            </a:r>
          </a:p>
          <a:p>
            <a:pPr>
              <a:spcAft>
                <a:spcPts val="800"/>
              </a:spcAft>
              <a:defRPr sz="850" i="1">
                <a:solidFill>
                  <a:srgbClr val="64748B"/>
                </a:solidFill>
              </a:defRPr>
            </a:pPr>
            <a:r>
              <a:t>Quality Monitor</a:t>
            </a:r>
          </a:p>
          <a:p>
            <a:pPr>
              <a:defRPr sz="819" b="1">
                <a:solidFill>
                  <a:srgbClr val="1D4ED8"/>
                </a:solidFill>
              </a:defRPr>
            </a:pPr>
            <a:r>
              <a:t>• Math Model:</a:t>
            </a:r>
          </a:p>
          <a:p>
            <a:pPr>
              <a:spcAft>
                <a:spcPts val="400"/>
              </a:spcAft>
              <a:defRPr sz="800">
                <a:solidFill>
                  <a:srgbClr val="1E293B"/>
                </a:solidFill>
              </a:defRPr>
            </a:pPr>
            <a:r>
              <a:t>x(t) = m(t) ⊙ x*(t) + ε(t)</a:t>
            </a:r>
          </a:p>
          <a:p>
            <a:pPr>
              <a:defRPr sz="819" b="1">
                <a:solidFill>
                  <a:srgbClr val="1D4ED8"/>
                </a:solidFill>
              </a:defRPr>
            </a:pPr>
            <a:r>
              <a:t>• Completeness C(t):</a:t>
            </a:r>
          </a:p>
          <a:p>
            <a:pPr>
              <a:spcAft>
                <a:spcPts val="400"/>
              </a:spcAft>
              <a:defRPr sz="800">
                <a:solidFill>
                  <a:srgbClr val="1E293B"/>
                </a:solidFill>
              </a:defRPr>
            </a:pPr>
            <a:r>
              <a:t>Weighted ratio of observed features Σ w_i · m_i.</a:t>
            </a:r>
          </a:p>
          <a:p>
            <a:pPr>
              <a:defRPr sz="819" b="1">
                <a:solidFill>
                  <a:srgbClr val="1D4ED8"/>
                </a:solidFill>
              </a:defRPr>
            </a:pPr>
            <a:r>
              <a:t>• Consistency S(t):</a:t>
            </a:r>
          </a:p>
          <a:p>
            <a:pPr>
              <a:spcAft>
                <a:spcPts val="400"/>
              </a:spcAft>
              <a:defRPr sz="800">
                <a:solidFill>
                  <a:srgbClr val="1E293B"/>
                </a:solidFill>
              </a:defRPr>
            </a:pPr>
            <a:r>
              <a:t>Validates wire bytes &gt;= pkts × 20 &amp; duration &gt;= 0.</a:t>
            </a:r>
          </a:p>
          <a:p>
            <a:pPr>
              <a:defRPr sz="819" b="1">
                <a:solidFill>
                  <a:srgbClr val="1D4ED8"/>
                </a:solidFill>
              </a:defRPr>
            </a:pPr>
            <a:r>
              <a:t>• Composite Score Q:</a:t>
            </a:r>
          </a:p>
          <a:p>
            <a:pPr>
              <a:spcAft>
                <a:spcPts val="400"/>
              </a:spcAft>
              <a:defRPr sz="800">
                <a:solidFill>
                  <a:srgbClr val="1E293B"/>
                </a:solidFill>
              </a:defRPr>
            </a:pPr>
            <a:r>
              <a:t>Q(t) = 0.70·C(t) + 0.30·S(t)</a:t>
            </a:r>
          </a:p>
          <a:p>
            <a:pPr>
              <a:defRPr sz="819" b="1">
                <a:solidFill>
                  <a:srgbClr val="1D4ED8"/>
                </a:solidFill>
              </a:defRPr>
            </a:pPr>
            <a:r>
              <a:t>• Health Tiers:</a:t>
            </a:r>
          </a:p>
          <a:p>
            <a:pPr>
              <a:spcAft>
                <a:spcPts val="400"/>
              </a:spcAft>
              <a:defRPr sz="800">
                <a:solidFill>
                  <a:srgbClr val="1E293B"/>
                </a:solidFill>
              </a:defRPr>
            </a:pPr>
            <a:r>
              <a:t>Good (≥0.80) | Degraded (0.40-0.80) | Critical (&lt;0.40)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79392" y="1234440"/>
            <a:ext cx="1755648" cy="5166360"/>
          </a:xfrm>
          <a:prstGeom prst="roundRect">
            <a:avLst/>
          </a:prstGeom>
          <a:solidFill>
            <a:srgbClr val="ECFEFF"/>
          </a:solidFill>
          <a:ln w="1905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70832" y="1344168"/>
            <a:ext cx="1572768" cy="4946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STAGE 2: ARBITER</a:t>
            </a:r>
          </a:p>
          <a:p>
            <a:pPr>
              <a:spcAft>
                <a:spcPts val="800"/>
              </a:spcAft>
              <a:defRPr sz="850" i="1">
                <a:solidFill>
                  <a:srgbClr val="64748B"/>
                </a:solidFill>
              </a:defRPr>
            </a:pPr>
            <a:r>
              <a:t>Hysteresis Dispatch</a:t>
            </a:r>
          </a:p>
          <a:p>
            <a:pPr>
              <a:defRPr sz="819" b="1">
                <a:solidFill>
                  <a:srgbClr val="0E7490"/>
                </a:solidFill>
              </a:defRPr>
            </a:pPr>
            <a:r>
              <a:t>• State Engine:</a:t>
            </a:r>
          </a:p>
          <a:p>
            <a:pPr>
              <a:spcAft>
                <a:spcPts val="400"/>
              </a:spcAft>
              <a:defRPr sz="800">
                <a:solidFill>
                  <a:srgbClr val="1E293B"/>
                </a:solidFill>
              </a:defRPr>
            </a:pPr>
            <a:r>
              <a:t>M(t) = Φ(Q(t), M(t-1), δ)</a:t>
            </a:r>
          </a:p>
          <a:p>
            <a:pPr>
              <a:defRPr sz="819" b="1">
                <a:solidFill>
                  <a:srgbClr val="0E7490"/>
                </a:solidFill>
              </a:defRPr>
            </a:pPr>
            <a:r>
              <a:t>• Hysteresis Buffer:</a:t>
            </a:r>
          </a:p>
          <a:p>
            <a:pPr>
              <a:spcAft>
                <a:spcPts val="400"/>
              </a:spcAft>
              <a:defRPr sz="800">
                <a:solidFill>
                  <a:srgbClr val="1E293B"/>
                </a:solidFill>
              </a:defRPr>
            </a:pPr>
            <a:r>
              <a:t>δ = ±0.05 eliminates high-frequency mode flapping.</a:t>
            </a:r>
          </a:p>
          <a:p>
            <a:pPr>
              <a:defRPr sz="819" b="1">
                <a:solidFill>
                  <a:srgbClr val="0E7490"/>
                </a:solidFill>
              </a:defRPr>
            </a:pPr>
            <a:r>
              <a:t>• Transition Rules:</a:t>
            </a:r>
          </a:p>
          <a:p>
            <a:pPr>
              <a:spcAft>
                <a:spcPts val="400"/>
              </a:spcAft>
              <a:defRPr sz="800">
                <a:solidFill>
                  <a:srgbClr val="1E293B"/>
                </a:solidFill>
              </a:defRPr>
            </a:pPr>
            <a:r>
              <a:t>Tolerates dips before demoting; requires proof to promote.</a:t>
            </a:r>
          </a:p>
          <a:p>
            <a:pPr>
              <a:defRPr sz="819" b="1">
                <a:solidFill>
                  <a:srgbClr val="0E7490"/>
                </a:solidFill>
              </a:defRPr>
            </a:pPr>
            <a:r>
              <a:t>• Warm Memory:</a:t>
            </a:r>
          </a:p>
          <a:p>
            <a:pPr>
              <a:spcAft>
                <a:spcPts val="400"/>
              </a:spcAft>
              <a:defRPr sz="800">
                <a:solidFill>
                  <a:srgbClr val="1E293B"/>
                </a:solidFill>
              </a:defRPr>
            </a:pPr>
            <a:r>
              <a:t>Zero-delay pointer switch (&lt; 1 microsecond).</a:t>
            </a:r>
          </a:p>
          <a:p>
            <a:pPr>
              <a:defRPr sz="819" b="1">
                <a:solidFill>
                  <a:srgbClr val="0E7490"/>
                </a:solidFill>
              </a:defRPr>
            </a:pPr>
            <a:r>
              <a:t>• Routes to:</a:t>
            </a:r>
          </a:p>
          <a:p>
            <a:pPr>
              <a:spcAft>
                <a:spcPts val="400"/>
              </a:spcAft>
              <a:defRPr sz="800">
                <a:solidFill>
                  <a:srgbClr val="1E293B"/>
                </a:solidFill>
              </a:defRPr>
            </a:pPr>
            <a:r>
              <a:t>Mode 1, Mode 2, or Mode 3.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1234440"/>
            <a:ext cx="1755648" cy="516636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6208" y="1344168"/>
            <a:ext cx="1572768" cy="4946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45309"/>
                </a:solidFill>
              </a:defRPr>
            </a:pPr>
            <a:r>
              <a:t>STAGE 3: DETECTION</a:t>
            </a:r>
          </a:p>
          <a:p>
            <a:pPr>
              <a:spcAft>
                <a:spcPts val="800"/>
              </a:spcAft>
              <a:defRPr sz="850" i="1">
                <a:solidFill>
                  <a:srgbClr val="64748B"/>
                </a:solidFill>
              </a:defRPr>
            </a:pPr>
            <a:r>
              <a:t>Prevalidated Modes</a:t>
            </a:r>
          </a:p>
          <a:p>
            <a:pPr>
              <a:defRPr sz="819" b="1">
                <a:solidFill>
                  <a:srgbClr val="B45309"/>
                </a:solidFill>
              </a:defRPr>
            </a:pPr>
            <a:r>
              <a:t>• Mode 1 (Full):</a:t>
            </a:r>
          </a:p>
          <a:p>
            <a:pPr>
              <a:spcAft>
                <a:spcPts val="400"/>
              </a:spcAft>
              <a:defRPr sz="800">
                <a:solidFill>
                  <a:srgbClr val="1E293B"/>
                </a:solidFill>
              </a:defRPr>
            </a:pPr>
            <a:r>
              <a:t>Random Forest (78 features). Latency: 0.008 ms.</a:t>
            </a:r>
          </a:p>
          <a:p>
            <a:pPr>
              <a:defRPr sz="819" b="1">
                <a:solidFill>
                  <a:srgbClr val="B45309"/>
                </a:solidFill>
              </a:defRPr>
            </a:pPr>
            <a:r>
              <a:t>• Mode 2 (Degraded):</a:t>
            </a:r>
          </a:p>
          <a:p>
            <a:pPr>
              <a:spcAft>
                <a:spcPts val="400"/>
              </a:spcAft>
              <a:defRPr sz="800">
                <a:solidFill>
                  <a:srgbClr val="1E293B"/>
                </a:solidFill>
              </a:defRPr>
            </a:pPr>
            <a:r>
              <a:t>Random Forest (16 L3/L4 features). Latency: 0.005 ms.</a:t>
            </a:r>
          </a:p>
          <a:p>
            <a:pPr>
              <a:defRPr sz="819" b="1">
                <a:solidFill>
                  <a:srgbClr val="B45309"/>
                </a:solidFill>
              </a:defRPr>
            </a:pPr>
            <a:r>
              <a:t>• Mode 3 (Fallback):</a:t>
            </a:r>
          </a:p>
          <a:p>
            <a:pPr>
              <a:spcAft>
                <a:spcPts val="400"/>
              </a:spcAft>
              <a:defRPr sz="800">
                <a:solidFill>
                  <a:srgbClr val="1E293B"/>
                </a:solidFill>
              </a:defRPr>
            </a:pPr>
            <a:r>
              <a:t>Deterministic rules (&lt; 5 μs) on 4 volumetric counters:</a:t>
            </a:r>
          </a:p>
          <a:p>
            <a:pPr>
              <a:defRPr sz="819" b="1">
                <a:solidFill>
                  <a:srgbClr val="B45309"/>
                </a:solidFill>
              </a:defRPr>
            </a:pPr>
            <a:r>
              <a:t>  - Rule A:</a:t>
            </a:r>
          </a:p>
          <a:p>
            <a:pPr>
              <a:spcAft>
                <a:spcPts val="400"/>
              </a:spcAft>
              <a:defRPr sz="800">
                <a:solidFill>
                  <a:srgbClr val="1E293B"/>
                </a:solidFill>
              </a:defRPr>
            </a:pPr>
            <a:r>
              <a:t>pps &gt; 50k OR Bps &gt; 10MB/s (DDoS)</a:t>
            </a:r>
          </a:p>
          <a:p>
            <a:pPr>
              <a:defRPr sz="819" b="1">
                <a:solidFill>
                  <a:srgbClr val="B45309"/>
                </a:solidFill>
              </a:defRPr>
            </a:pPr>
            <a:r>
              <a:t>  - Rule B:</a:t>
            </a:r>
          </a:p>
          <a:p>
            <a:pPr>
              <a:spcAft>
                <a:spcPts val="400"/>
              </a:spcAft>
              <a:defRPr sz="800">
                <a:solidFill>
                  <a:srgbClr val="1E293B"/>
                </a:solidFill>
              </a:defRPr>
            </a:pPr>
            <a:r>
              <a:t>SYN/ACK &gt; 5:1 flood</a:t>
            </a:r>
          </a:p>
          <a:p>
            <a:pPr>
              <a:defRPr sz="819" b="1">
                <a:solidFill>
                  <a:srgbClr val="B45309"/>
                </a:solidFill>
              </a:defRPr>
            </a:pPr>
            <a:r>
              <a:t>  - Rule C:</a:t>
            </a:r>
          </a:p>
          <a:p>
            <a:pPr>
              <a:spcAft>
                <a:spcPts val="400"/>
              </a:spcAft>
              <a:defRPr sz="800">
                <a:solidFill>
                  <a:srgbClr val="1E293B"/>
                </a:solidFill>
              </a:defRPr>
            </a:pPr>
            <a:r>
              <a:t>Port sweep &gt; 50 ports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234440"/>
            <a:ext cx="1755648" cy="516636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1584" y="1344168"/>
            <a:ext cx="1572768" cy="4946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91C1C"/>
                </a:solidFill>
              </a:defRPr>
            </a:pPr>
            <a:r>
              <a:t>STAGE 4: MITIGATION</a:t>
            </a:r>
          </a:p>
          <a:p>
            <a:pPr>
              <a:spcAft>
                <a:spcPts val="800"/>
              </a:spcAft>
              <a:defRPr sz="850" i="1">
                <a:solidFill>
                  <a:srgbClr val="64748B"/>
                </a:solidFill>
              </a:defRPr>
            </a:pPr>
            <a:r>
              <a:t>Adaptive Prevention</a:t>
            </a:r>
          </a:p>
          <a:p>
            <a:pPr>
              <a:defRPr sz="819" b="1">
                <a:solidFill>
                  <a:srgbClr val="B91C1C"/>
                </a:solidFill>
              </a:defRPr>
            </a:pPr>
            <a:r>
              <a:t>• Threat Fusion:</a:t>
            </a:r>
          </a:p>
          <a:p>
            <a:pPr>
              <a:spcAft>
                <a:spcPts val="400"/>
              </a:spcAft>
              <a:defRPr sz="800">
                <a:solidFill>
                  <a:srgbClr val="1E293B"/>
                </a:solidFill>
              </a:defRPr>
            </a:pPr>
            <a:r>
              <a:t>Benign | DDoS | PortScan | Slowloris | BruteForce.</a:t>
            </a:r>
          </a:p>
          <a:p>
            <a:pPr>
              <a:defRPr sz="819" b="1">
                <a:solidFill>
                  <a:srgbClr val="B91C1C"/>
                </a:solidFill>
              </a:defRPr>
            </a:pPr>
            <a:r>
              <a:t>• High Severity:</a:t>
            </a:r>
          </a:p>
          <a:p>
            <a:pPr>
              <a:spcAft>
                <a:spcPts val="400"/>
              </a:spcAft>
              <a:defRPr sz="800">
                <a:solidFill>
                  <a:srgbClr val="1E293B"/>
                </a:solidFill>
              </a:defRPr>
            </a:pPr>
            <a:r>
              <a:t>FIREWALL_DROP_IP (Quarantine for 30m via iptables / netsh).</a:t>
            </a:r>
          </a:p>
          <a:p>
            <a:pPr>
              <a:defRPr sz="819" b="1">
                <a:solidFill>
                  <a:srgbClr val="B91C1C"/>
                </a:solidFill>
              </a:defRPr>
            </a:pPr>
            <a:r>
              <a:t>• Medium Severity:</a:t>
            </a:r>
          </a:p>
          <a:p>
            <a:pPr>
              <a:spcAft>
                <a:spcPts val="400"/>
              </a:spcAft>
              <a:defRPr sz="800">
                <a:solidFill>
                  <a:srgbClr val="1E293B"/>
                </a:solidFill>
              </a:defRPr>
            </a:pPr>
            <a:r>
              <a:t>RATE_LIMIT_FLOW (Token-bucket 5 pkts/s; protects NAT).</a:t>
            </a:r>
          </a:p>
          <a:p>
            <a:pPr>
              <a:defRPr sz="819" b="1">
                <a:solidFill>
                  <a:srgbClr val="B91C1C"/>
                </a:solidFill>
              </a:defRPr>
            </a:pPr>
            <a:r>
              <a:t>• Low Severity:</a:t>
            </a:r>
          </a:p>
          <a:p>
            <a:pPr>
              <a:spcAft>
                <a:spcPts val="400"/>
              </a:spcAft>
              <a:defRPr sz="800">
                <a:solidFill>
                  <a:srgbClr val="1E293B"/>
                </a:solidFill>
              </a:defRPr>
            </a:pPr>
            <a:r>
              <a:t>AUDIT_LOG_ONLY (Continuous telemetry tracking).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0" y="1234440"/>
            <a:ext cx="1755648" cy="516636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0" y="1344168"/>
            <a:ext cx="1572768" cy="4946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47857"/>
                </a:solidFill>
              </a:defRPr>
            </a:pPr>
            <a:r>
              <a:t>STAGE 5: INTERFACES</a:t>
            </a:r>
          </a:p>
          <a:p>
            <a:pPr>
              <a:spcAft>
                <a:spcPts val="800"/>
              </a:spcAft>
              <a:defRPr sz="850" i="1">
                <a:solidFill>
                  <a:srgbClr val="64748B"/>
                </a:solidFill>
              </a:defRPr>
            </a:pPr>
            <a:r>
              <a:t>Benchmarks &amp; UI</a:t>
            </a:r>
          </a:p>
          <a:p>
            <a:pPr>
              <a:defRPr sz="819" b="1">
                <a:solidFill>
                  <a:srgbClr val="047857"/>
                </a:solidFill>
              </a:defRPr>
            </a:pPr>
            <a:r>
              <a:t>• Live Web Console:</a:t>
            </a:r>
          </a:p>
          <a:p>
            <a:pPr>
              <a:spcAft>
                <a:spcPts val="400"/>
              </a:spcAft>
              <a:defRPr sz="800">
                <a:solidFill>
                  <a:srgbClr val="1E293B"/>
                </a:solidFill>
              </a:defRPr>
            </a:pPr>
            <a:r>
              <a:t>Streamlit dashboard (app.py) with real-time sliders.</a:t>
            </a:r>
          </a:p>
          <a:p>
            <a:pPr>
              <a:defRPr sz="819" b="1">
                <a:solidFill>
                  <a:srgbClr val="047857"/>
                </a:solidFill>
              </a:defRPr>
            </a:pPr>
            <a:r>
              <a:t>• One-Click Start:</a:t>
            </a:r>
          </a:p>
          <a:p>
            <a:pPr>
              <a:spcAft>
                <a:spcPts val="400"/>
              </a:spcAft>
              <a:defRPr sz="800">
                <a:solidFill>
                  <a:srgbClr val="1E293B"/>
                </a:solidFill>
              </a:defRPr>
            </a:pPr>
            <a:r>
              <a:t>run_app.bat (Win) &amp; run_app.sh (Linux).</a:t>
            </a:r>
          </a:p>
          <a:p>
            <a:pPr>
              <a:defRPr sz="819" b="1">
                <a:solidFill>
                  <a:srgbClr val="047857"/>
                </a:solidFill>
              </a:defRPr>
            </a:pPr>
            <a:r>
              <a:t>• Continuity Metric:</a:t>
            </a:r>
          </a:p>
          <a:p>
            <a:pPr>
              <a:spcAft>
                <a:spcPts val="400"/>
              </a:spcAft>
              <a:defRPr sz="800">
                <a:solidFill>
                  <a:srgbClr val="1E293B"/>
                </a:solidFill>
              </a:defRPr>
            </a:pPr>
            <a:r>
              <a:t>DCM = 0.8965 vs 0.7485 for Imputation.</a:t>
            </a:r>
          </a:p>
          <a:p>
            <a:pPr>
              <a:defRPr sz="819" b="1">
                <a:solidFill>
                  <a:srgbClr val="047857"/>
                </a:solidFill>
              </a:defRPr>
            </a:pPr>
            <a:r>
              <a:t>• Research Paper:</a:t>
            </a:r>
          </a:p>
          <a:p>
            <a:pPr>
              <a:spcAft>
                <a:spcPts val="400"/>
              </a:spcAft>
              <a:defRPr sz="800">
                <a:solidFill>
                  <a:srgbClr val="1E293B"/>
                </a:solidFill>
              </a:defRPr>
            </a:pPr>
            <a:r>
              <a:t>Full IEEE LaTeX manuscript &amp; vector resilience plots.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D4ED8"/>
                </a:solidFill>
              </a:defRPr>
            </a:pPr>
            <a:r>
              <a:t>STAGE 0 &amp; 1 DETAILED ARCHITECTURE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Telemetry Ingestion &amp; Quality Assessment Engine (TQM)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5303520" cy="516636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48463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6D28D9"/>
                </a:solidFill>
              </a:defRPr>
            </a:pPr>
            <a:r>
              <a:t>STAGE 0: INGESTION &amp; NETWORK FAILURE FORCES</a:t>
            </a:r>
          </a:p>
          <a:p>
            <a:pPr>
              <a:defRPr sz="1000" b="1">
                <a:solidFill>
                  <a:srgbClr val="6D28D9"/>
                </a:solidFill>
              </a:defRPr>
            </a:pPr>
            <a:r>
              <a:t>Observation Model: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x(t) = m(t) ⊙ x*(t) + ε(t)</a:t>
            </a:r>
            <a:br/>
            <a:r>
              <a:t>Where m(t) is the observability mask and ε(t) is jitter noise.</a:t>
            </a:r>
          </a:p>
          <a:p>
            <a:pPr>
              <a:defRPr sz="1000" b="1">
                <a:solidFill>
                  <a:srgbClr val="6D28D9"/>
                </a:solidFill>
              </a:defRPr>
            </a:pPr>
            <a:r>
              <a:t>Level 0 - Normal (Q ≈ 1.0):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Pristine span-port mirroring; full bidirectional 78 flow features available.</a:t>
            </a:r>
          </a:p>
          <a:p>
            <a:pPr>
              <a:defRPr sz="1000" b="1">
                <a:solidFill>
                  <a:srgbClr val="6D28D9"/>
                </a:solidFill>
              </a:defRPr>
            </a:pPr>
            <a:r>
              <a:t>Level 1 - Mild Jitter (Q ≈ 0.85):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Buffer queuing delay and clock drift perturbing inter-arrival times (IAT).</a:t>
            </a:r>
          </a:p>
          <a:p>
            <a:pPr>
              <a:defRPr sz="1000" b="1">
                <a:solidFill>
                  <a:srgbClr val="6D28D9"/>
                </a:solidFill>
              </a:defRPr>
            </a:pPr>
            <a:r>
              <a:t>Level 2 - Moderate Asymmetry (Q ≈ 0.55):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Asymmetric BGP routing: return packets take an alternate gateway; all 35 backward flow attributes vanish.</a:t>
            </a:r>
          </a:p>
          <a:p>
            <a:pPr>
              <a:defRPr sz="1000" b="1">
                <a:solidFill>
                  <a:srgbClr val="6D28D9"/>
                </a:solidFill>
              </a:defRPr>
            </a:pPr>
            <a:r>
              <a:t>Level 3 - Severe Starvation (Q &lt; 0.40):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Sensor CPU/RAM saturation + TLS 1.3: DPI stripped, 65% feature blackout. Only coarse hardware counters survive.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234440"/>
            <a:ext cx="5303520" cy="51663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37960" y="1417320"/>
            <a:ext cx="48463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D4ED8"/>
                </a:solidFill>
              </a:defRPr>
            </a:pPr>
            <a:r>
              <a:t>STAGE 1: TELEMETRY QUALITY MONITOR (TQM)</a:t>
            </a:r>
          </a:p>
          <a:p>
            <a:pPr>
              <a:defRPr sz="1000" b="1">
                <a:solidFill>
                  <a:srgbClr val="1D4ED8"/>
                </a:solidFill>
              </a:defRPr>
            </a:pPr>
            <a:r>
              <a:t>Weighted Completeness Index C(t):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C(t) = (Σ w_i · m_i) / (Σ w_i) ∈ [0, 1]</a:t>
            </a:r>
            <a:br/>
            <a:r>
              <a:t>Weighted by mutual information importance (L3/L4 = 2.5, Bwd = 2.0).</a:t>
            </a:r>
          </a:p>
          <a:p>
            <a:pPr>
              <a:defRPr sz="1000" b="1">
                <a:solidFill>
                  <a:srgbClr val="1D4ED8"/>
                </a:solidFill>
              </a:defRPr>
            </a:pPr>
            <a:r>
              <a:t>Physical Invariant Consistency S(t):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Evaluates physical network conservation laws:</a:t>
            </a:r>
            <a:br/>
            <a:r>
              <a:t>1. Total Bytes ≥ Total Packets × 20 (IP Header Minimum)</a:t>
            </a:r>
            <a:br/>
            <a:r>
              <a:t>2. Flow Duration ≥ 0</a:t>
            </a:r>
            <a:br/>
            <a:r>
              <a:t>3. Wire Rate ≤ 1.25 GB/s (10Gbps physical maximum)</a:t>
            </a:r>
            <a:br/>
            <a:r>
              <a:t>4. Valid Destination Port range [1, 65535]</a:t>
            </a:r>
          </a:p>
          <a:p>
            <a:pPr>
              <a:defRPr sz="1000" b="1">
                <a:solidFill>
                  <a:srgbClr val="1D4ED8"/>
                </a:solidFill>
              </a:defRPr>
            </a:pPr>
            <a:r>
              <a:t>Composite Health Score Q(t):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Q(t) = 0.70 · C(t) + 0.30 · S(t) ∈ [0.0, 1.0]</a:t>
            </a:r>
          </a:p>
          <a:p>
            <a:pPr>
              <a:defRPr sz="1000" b="1">
                <a:solidFill>
                  <a:srgbClr val="1D4ED8"/>
                </a:solidFill>
              </a:defRPr>
            </a:pPr>
            <a:r>
              <a:t>Operational Health Tiers: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• Q ≥ 0.80  --&gt; GOOD TELEMETRY (Clean)</a:t>
            </a:r>
            <a:br/>
            <a:r>
              <a:t>• 0.40 ≤ Q &lt; 0.80 --&gt; DEGRADED TELEMETRY (Lossy)</a:t>
            </a:r>
            <a:br/>
            <a:r>
              <a:t>• Q &lt; 0.40  --&gt; CRITICAL TELEMETRY (Overload)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D4ED8"/>
                </a:solidFill>
              </a:defRPr>
            </a:pPr>
            <a:r>
              <a:t>STAGE 2 &amp; 3 DETAILED ARCHITECTURE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Dynamic Arbiter (Hysteresis) &amp; Prevalidated Model Zoo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5303520" cy="5166360"/>
          </a:xfrm>
          <a:prstGeom prst="roundRect">
            <a:avLst/>
          </a:prstGeom>
          <a:solidFill>
            <a:srgbClr val="ECFEFF"/>
          </a:solidFill>
          <a:ln w="1905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48463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E7490"/>
                </a:solidFill>
              </a:defRPr>
            </a:pPr>
            <a:r>
              <a:t>STAGE 2: DYNAMIC ARBITER WITH HYSTERESIS</a:t>
            </a:r>
          </a:p>
          <a:p>
            <a:pPr>
              <a:defRPr sz="1000" b="1">
                <a:solidFill>
                  <a:srgbClr val="0E7490"/>
                </a:solidFill>
              </a:defRPr>
            </a:pPr>
            <a:r>
              <a:t>The Hazard of 'Mode Flapping':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Near decision boundaries (Q ≈ 0.80), telemetry noise causes rapid alternating switches (Mode 1 ↔ Mode 2), inducing pipeline stalls.</a:t>
            </a:r>
          </a:p>
          <a:p>
            <a:pPr>
              <a:defRPr sz="1000" b="1">
                <a:solidFill>
                  <a:srgbClr val="0E7490"/>
                </a:solidFill>
              </a:defRPr>
            </a:pPr>
            <a:r>
              <a:t>The Hysteresis Buffer (δ = ±0.05):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Mode(t) = Φ( Q(t), Mode(t-1), δ )</a:t>
            </a:r>
            <a:br/>
            <a:r>
              <a:t>• Mode 1 is held until Q drops below 0.75 (0.80 - 0.05).</a:t>
            </a:r>
            <a:br/>
            <a:r>
              <a:t>• Mode 2 requires Q ≥ 0.80 to promote, and Q &lt; 0.35 to demote.</a:t>
            </a:r>
            <a:br/>
            <a:r>
              <a:t>• Mode 3 requires Q ≥ 0.40 to recover back to Mode 2.</a:t>
            </a:r>
          </a:p>
          <a:p>
            <a:pPr>
              <a:defRPr sz="1000" b="1">
                <a:solidFill>
                  <a:srgbClr val="0E7490"/>
                </a:solidFill>
              </a:defRPr>
            </a:pPr>
            <a:r>
              <a:t>Zero-Latency Dispatch: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All models remain warm in RAM. Arbitration is an O(1) memory pointer dispatch taking &lt; 1 microsecond!</a:t>
            </a:r>
          </a:p>
          <a:p>
            <a:pPr>
              <a:defRPr sz="1000" b="1">
                <a:solidFill>
                  <a:srgbClr val="0E7490"/>
                </a:solidFill>
              </a:defRPr>
            </a:pPr>
            <a:r>
              <a:t>Flapping Counter: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Tracks and logs eliminated boundary oscillations in real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234440"/>
            <a:ext cx="5303520" cy="516636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37960" y="1417320"/>
            <a:ext cx="48463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B45309"/>
                </a:solidFill>
              </a:defRPr>
            </a:pPr>
            <a:r>
              <a:t>STAGE 3: THE 3 PREVALIDATED DETECTION MODES</a:t>
            </a:r>
          </a:p>
          <a:p>
            <a:pPr>
              <a:defRPr sz="1000" b="1">
                <a:solidFill>
                  <a:srgbClr val="B45309"/>
                </a:solidFill>
              </a:defRPr>
            </a:pPr>
            <a:r>
              <a:t>Mode 1: Full ML Engine (Surgeon):</a:t>
            </a:r>
          </a:p>
          <a:p>
            <a:pPr>
              <a:spcAft>
                <a:spcPts val="500"/>
              </a:spcAft>
              <a:defRPr sz="900">
                <a:solidFill>
                  <a:srgbClr val="1E293B"/>
                </a:solidFill>
              </a:defRPr>
            </a:pPr>
            <a:r>
              <a:t>• Model: Random Forest (50 Trees, Depth 14)</a:t>
            </a:r>
            <a:br/>
            <a:r>
              <a:t>• Subspace: Full 78 features (F_full)</a:t>
            </a:r>
            <a:br/>
            <a:r>
              <a:t>• Detects: Subtle infiltration, slow reconnaissance, web attacks</a:t>
            </a:r>
            <a:br/>
            <a:r>
              <a:t>• Latency: ~0.008 ms / flow</a:t>
            </a:r>
          </a:p>
          <a:p>
            <a:pPr>
              <a:defRPr sz="1000" b="1">
                <a:solidFill>
                  <a:srgbClr val="B45309"/>
                </a:solidFill>
              </a:defRPr>
            </a:pPr>
            <a:r>
              <a:t>Mode 2: Degraded ML Engine (Field Medic):</a:t>
            </a:r>
          </a:p>
          <a:p>
            <a:pPr>
              <a:spcAft>
                <a:spcPts val="500"/>
              </a:spcAft>
              <a:defRPr sz="900">
                <a:solidFill>
                  <a:srgbClr val="1E293B"/>
                </a:solidFill>
              </a:defRPr>
            </a:pPr>
            <a:r>
              <a:t>• Model: Reduced Random Forest (50 Trees, Depth 12)</a:t>
            </a:r>
            <a:br/>
            <a:r>
              <a:t>• Subspace: 16 Core L3/L4 features (F_degraded)</a:t>
            </a:r>
            <a:br/>
            <a:r>
              <a:t>• Bypasses: Missing backward metrics &amp; timing jitter</a:t>
            </a:r>
            <a:br/>
            <a:r>
              <a:t>• Latency: ~0.005 ms / flow (3× faster)</a:t>
            </a:r>
          </a:p>
          <a:p>
            <a:pPr>
              <a:defRPr sz="1000" b="1">
                <a:solidFill>
                  <a:srgbClr val="B45309"/>
                </a:solidFill>
              </a:defRPr>
            </a:pPr>
            <a:r>
              <a:t>Mode 3: Deterministic Fallback Rules (Fire Alarm):</a:t>
            </a:r>
          </a:p>
          <a:p>
            <a:pPr>
              <a:spcAft>
                <a:spcPts val="500"/>
              </a:spcAft>
              <a:defRPr sz="900">
                <a:solidFill>
                  <a:srgbClr val="1E293B"/>
                </a:solidFill>
              </a:defRPr>
            </a:pPr>
            <a:r>
              <a:t>• Model: Deterministic Algorithmic Invariant Rules</a:t>
            </a:r>
            <a:br/>
            <a:r>
              <a:t>• Subspace: 4 Volumetric Counters (pps, bps, SYN, ACK)</a:t>
            </a:r>
            <a:br/>
            <a:r>
              <a:t>• Executes in &lt; 5 microseconds without ML CPU overhead:</a:t>
            </a:r>
            <a:br/>
            <a:r>
              <a:t>  - Rule A: pps &gt; 50,000 OR bps &gt; 10MB/s (DDoS Flood)</a:t>
            </a:r>
            <a:br/>
            <a:r>
              <a:t>  - Rule B: SYN &gt; 10 &amp; SYN/ACK Ratio &gt; 5:1 (SYN Flood)</a:t>
            </a:r>
            <a:br/>
            <a:r>
              <a:t>  - Rule C: Contacted Ports &gt; 50 in 1s (Port Scan)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D4ED8"/>
                </a:solidFill>
              </a:defRPr>
            </a:pPr>
            <a:r>
              <a:t>STAGE 4 &amp; 5 DETAILED ARCHITECTURE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Decision Fusion &amp; Adaptive Prevention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5303520" cy="51663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48463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D4ED8"/>
                </a:solidFill>
              </a:defRPr>
            </a:pPr>
            <a:r>
              <a:t>STAGE 4: THREAT CLASSIFICATION &amp; DECISION FUSION</a:t>
            </a:r>
          </a:p>
          <a:p>
            <a:pPr>
              <a:defRPr sz="1000" b="1">
                <a:solidFill>
                  <a:srgbClr val="1D4ED8"/>
                </a:solidFill>
              </a:defRPr>
            </a:pPr>
            <a:r>
              <a:t>Multi-Class Threat Discrimination: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Classifies network flow into 5 discrete categories:</a:t>
            </a:r>
            <a:br/>
            <a:r>
              <a:t>0. BENIGN (Normal Web / DNS / Streaming)</a:t>
            </a:r>
            <a:br/>
            <a:r>
              <a:t>1. DDoS (Volumetric TCP SYN / UDP Flood)</a:t>
            </a:r>
            <a:br/>
            <a:r>
              <a:t>2. PortScan (Rapid Port Sweeping)</a:t>
            </a:r>
            <a:br/>
            <a:r>
              <a:t>3. DoS-Slowloris (Low-and-Slow Session Starvation)</a:t>
            </a:r>
            <a:br/>
            <a:r>
              <a:t>4. BruteForce (SSH / FTP / RDP Credential Attacks)</a:t>
            </a:r>
          </a:p>
          <a:p>
            <a:pPr>
              <a:defRPr sz="1000" b="1">
                <a:solidFill>
                  <a:srgbClr val="1D4ED8"/>
                </a:solidFill>
              </a:defRPr>
            </a:pPr>
            <a:r>
              <a:t>Calibrated Confidence Scoring: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Outputs posterior probability confidence scores to verify classification certainty across all detection tiers.</a:t>
            </a:r>
          </a:p>
          <a:p>
            <a:pPr>
              <a:defRPr sz="1000" b="1">
                <a:solidFill>
                  <a:srgbClr val="1D4ED8"/>
                </a:solidFill>
              </a:defRPr>
            </a:pPr>
            <a:r>
              <a:t>Severity Assignment: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• HIGH: DDoS, SYN Flood, Infiltration</a:t>
            </a:r>
            <a:br/>
            <a:r>
              <a:t>• MEDIUM: PortScan, BruteForce, Slowloris</a:t>
            </a:r>
            <a:br/>
            <a:r>
              <a:t>• LOW: Minor jitter, Benign anomalies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234440"/>
            <a:ext cx="5303520" cy="516636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37960" y="1417320"/>
            <a:ext cx="48463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B91C1C"/>
                </a:solidFill>
              </a:defRPr>
            </a:pPr>
            <a:r>
              <a:t>STAGE 5: ADAPTIVE PREVENTION &amp; MITIGATION</a:t>
            </a:r>
          </a:p>
          <a:p>
            <a:pPr>
              <a:defRPr sz="1000" b="1">
                <a:solidFill>
                  <a:srgbClr val="B91C1C"/>
                </a:solidFill>
              </a:defRPr>
            </a:pPr>
            <a:r>
              <a:t>Action 1: FIREWALL_DROP_IP (High Severity):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• Host-Level Quarantine: Drops 100% of packets from source IP.</a:t>
            </a:r>
            <a:br/>
            <a:r>
              <a:t>• 30-Minute Penalty Box: Auto-expires to prevent dynamic IP locking.</a:t>
            </a:r>
            <a:br/>
            <a:r>
              <a:t>• Linux Command: iptables -A INPUT -s &lt;IP&gt; -j DROP</a:t>
            </a:r>
            <a:br/>
            <a:r>
              <a:t>• Windows Command: New-NetFirewallRule -Action Block</a:t>
            </a:r>
            <a:br/>
            <a:r>
              <a:t>• eBPF / XDP: Instant drop in network card silicon (&lt; 1 μs).</a:t>
            </a:r>
          </a:p>
          <a:p>
            <a:pPr>
              <a:defRPr sz="1000" b="1">
                <a:solidFill>
                  <a:srgbClr val="B91C1C"/>
                </a:solidFill>
              </a:defRPr>
            </a:pPr>
            <a:r>
              <a:t>Action 2: RATE_LIMIT_FLOW (Medium Severity):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• Token-Bucket Speed Limit: Restricts sender to 5 pkts/sec.</a:t>
            </a:r>
            <a:br/>
            <a:r>
              <a:t>• Protects Shared Wi-Fi / NAT: Innocent users browsing normally are completely unaffected!</a:t>
            </a:r>
            <a:br/>
            <a:r>
              <a:t>• TCP Reset: Injects TCP RST packet to kill hanging Slowloris flows.</a:t>
            </a:r>
          </a:p>
          <a:p>
            <a:pPr>
              <a:defRPr sz="1000" b="1">
                <a:solidFill>
                  <a:srgbClr val="B91C1C"/>
                </a:solidFill>
              </a:defRPr>
            </a:pPr>
            <a:r>
              <a:t>Action 3: AUDIT_LOG_ONLY (Low Severity):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• Ingestion ledger tracking; zero disruption to legitimate traffic.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D4ED8"/>
                </a:solidFill>
              </a:defRPr>
            </a:pPr>
            <a:r>
              <a:t>STAGE 6 DETAILED ARCHITECTURE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Empirical Benchmarks, DCM &amp; Live Dashboard Console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5303520" cy="516636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48463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47857"/>
                </a:solidFill>
              </a:defRPr>
            </a:pPr>
            <a:r>
              <a:t>STAGE 6A: EMPIRICAL BENCHMARKS &amp; METRICS</a:t>
            </a:r>
          </a:p>
          <a:p>
            <a:pPr>
              <a:defRPr sz="1000" b="1">
                <a:solidFill>
                  <a:srgbClr val="047857"/>
                </a:solidFill>
              </a:defRPr>
            </a:pPr>
            <a:r>
              <a:t>Live Experimental Results (3,750 Flows):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• Under L2 (Asymmetric Routing):</a:t>
            </a:r>
            <a:br/>
            <a:r>
              <a:t>  - Static Model: F1 = 0.7470</a:t>
            </a:r>
            <a:br/>
            <a:r>
              <a:t>  - Imputation: F1 = 0.6803 (Misses 44.5% of attacks!)</a:t>
            </a:r>
            <a:br/>
            <a:r>
              <a:t>  - Proposed TIDPS: F1 = 0.9150 (0.0% missed attacks!)</a:t>
            </a:r>
            <a:br/>
            <a:br/>
            <a:r>
              <a:t>• Under L3 (Sensor Starvation):</a:t>
            </a:r>
            <a:br/>
            <a:r>
              <a:t>  - Static Model: F1 = 0.3666 (Performance Cliff)</a:t>
            </a:r>
            <a:br/>
            <a:r>
              <a:t>  - Imputation: F1 = 0.3172 (Misses 86.6% of attacks!)</a:t>
            </a:r>
            <a:br/>
            <a:r>
              <a:t>  - Proposed TIDPS: F1 = 0.6161 (Graceful Degradation)</a:t>
            </a:r>
          </a:p>
          <a:p>
            <a:pPr>
              <a:defRPr sz="1000" b="1">
                <a:solidFill>
                  <a:srgbClr val="047857"/>
                </a:solidFill>
              </a:defRPr>
            </a:pPr>
            <a:r>
              <a:t>Detection Continuity Metric (DCM):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DCM = ∫ F1(Q) dQ / ∫ F1_ideal dQ</a:t>
            </a:r>
            <a:br/>
            <a:r>
              <a:t>• Static Full Baseline: DCM = 0.7859</a:t>
            </a:r>
            <a:br/>
            <a:r>
              <a:t>• Imputation + Full: DCM = 0.7485</a:t>
            </a:r>
            <a:br/>
            <a:r>
              <a:t>• Proposed TIDPS (Multi-Mode): DCM = 0.8965 (+15% higher!)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234440"/>
            <a:ext cx="5303520" cy="5166360"/>
          </a:xfrm>
          <a:prstGeom prst="roundRect">
            <a:avLst/>
          </a:prstGeom>
          <a:solidFill>
            <a:srgbClr val="ECFEFF"/>
          </a:solidFill>
          <a:ln w="1905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37960" y="1417320"/>
            <a:ext cx="48463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E7490"/>
                </a:solidFill>
              </a:defRPr>
            </a:pPr>
            <a:r>
              <a:t>STAGE 6B: INTERACTIVE WEB CONSOLE &amp; LAUNCHERS</a:t>
            </a:r>
          </a:p>
          <a:p>
            <a:pPr>
              <a:defRPr sz="1000" b="1">
                <a:solidFill>
                  <a:srgbClr val="0E7490"/>
                </a:solidFill>
              </a:defRPr>
            </a:pPr>
            <a:r>
              <a:t>Streamlit Security Console (app.py):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• Real-Time Quality Gauge: Live Q meter with color tiers.</a:t>
            </a:r>
            <a:br/>
            <a:r>
              <a:t>• Dynamic Mode Status Badge: Mode 1 / Mode 2 / Mode 3.</a:t>
            </a:r>
            <a:br/>
            <a:r>
              <a:t>• Interactive Degradation Sliders: Missingness (0-90%), Jitter (0-100%), Routing Asymmetry toggle.</a:t>
            </a:r>
            <a:br/>
            <a:r>
              <a:t>• Live Feature Health Table: Shows which features are valid vs. dropped.</a:t>
            </a:r>
            <a:br/>
            <a:r>
              <a:t>• Dynamic Mitigation Ledger: Shows active iptables / Windows firewall quarantine rules in real time.</a:t>
            </a:r>
          </a:p>
          <a:p>
            <a:pPr>
              <a:defRPr sz="1000" b="1">
                <a:solidFill>
                  <a:srgbClr val="0E7490"/>
                </a:solidFill>
              </a:defRPr>
            </a:pPr>
            <a:r>
              <a:t>One-Click Cross-Platform Launchers: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• Windows (PowerShell / CMD): run_app.bat</a:t>
            </a:r>
            <a:br/>
            <a:r>
              <a:t>• Linux (Terminal / Bash): run_app.sh</a:t>
            </a:r>
            <a:br/>
            <a:r>
              <a:t>• Auto-launches web browser at: http://localhost:8501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